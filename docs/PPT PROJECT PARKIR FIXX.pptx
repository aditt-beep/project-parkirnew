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Vidaloka" charset="1" panose="02000504000000020004"/>
      <p:regular r:id="rId33"/>
    </p:embeddedFont>
    <p:embeddedFont>
      <p:font typeface="Montserrat" charset="1" panose="00000500000000000000"/>
      <p:regular r:id="rId34"/>
    </p:embeddedFont>
    <p:embeddedFont>
      <p:font typeface="Montserrat Bold" charset="1" panose="000008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fonts/font38.fntdata" Type="http://schemas.openxmlformats.org/officeDocument/2006/relationships/font"/><Relationship Id="rId39" Target="notesSlides/notesSlide5.xml" Type="http://schemas.openxmlformats.org/officeDocument/2006/relationships/notesSlide"/><Relationship Id="rId4" Target="theme/theme1.xml" Type="http://schemas.openxmlformats.org/officeDocument/2006/relationships/theme"/><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 Target="tableStyles.xml" Type="http://schemas.openxmlformats.org/officeDocument/2006/relationships/tableStyles"/><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57" Target="notesSlides/notesSlide23.xml" Type="http://schemas.openxmlformats.org/officeDocument/2006/relationships/notesSlide"/><Relationship Id="rId58" Target="notesSlides/notesSlide2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0.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3.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4.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9354900">
            <a:off x="-837848" y="1191778"/>
            <a:ext cx="6738595" cy="0"/>
          </a:xfrm>
          <a:prstGeom prst="line">
            <a:avLst/>
          </a:prstGeom>
          <a:ln cap="rnd" w="19050">
            <a:solidFill>
              <a:srgbClr val="3F3533"/>
            </a:solidFill>
            <a:prstDash val="solid"/>
            <a:headEnd type="none" len="sm" w="sm"/>
            <a:tailEnd type="none" len="sm" w="sm"/>
          </a:ln>
        </p:spPr>
      </p:sp>
      <p:sp>
        <p:nvSpPr>
          <p:cNvPr name="AutoShape 4" id="4"/>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5" id="5"/>
          <p:cNvSpPr/>
          <p:nvPr/>
        </p:nvSpPr>
        <p:spPr>
          <a:xfrm rot="9354900">
            <a:off x="12613005" y="9207627"/>
            <a:ext cx="6738595"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2171376" y="2588028"/>
            <a:ext cx="13945352" cy="3922347"/>
          </a:xfrm>
          <a:prstGeom prst="rect">
            <a:avLst/>
          </a:prstGeom>
        </p:spPr>
        <p:txBody>
          <a:bodyPr anchor="t" rtlCol="false" tIns="0" lIns="0" bIns="0" rIns="0">
            <a:spAutoFit/>
          </a:bodyPr>
          <a:lstStyle/>
          <a:p>
            <a:pPr algn="ctr">
              <a:lnSpc>
                <a:spcPts val="15600"/>
              </a:lnSpc>
            </a:pPr>
            <a:r>
              <a:rPr lang="en-US" sz="13000">
                <a:solidFill>
                  <a:srgbClr val="000000"/>
                </a:solidFill>
                <a:latin typeface="Vidaloka"/>
                <a:ea typeface="Vidaloka"/>
                <a:cs typeface="Vidaloka"/>
                <a:sym typeface="Vidaloka"/>
              </a:rPr>
              <a:t>Parking</a:t>
            </a:r>
          </a:p>
          <a:p>
            <a:pPr algn="ctr">
              <a:lnSpc>
                <a:spcPts val="15600"/>
              </a:lnSpc>
            </a:pPr>
            <a:r>
              <a:rPr lang="en-US" sz="13000">
                <a:solidFill>
                  <a:srgbClr val="000000"/>
                </a:solidFill>
                <a:latin typeface="Vidaloka"/>
                <a:ea typeface="Vidaloka"/>
                <a:cs typeface="Vidaloka"/>
                <a:sym typeface="Vidaloka"/>
              </a:rPr>
              <a:t>System</a:t>
            </a:r>
          </a:p>
        </p:txBody>
      </p:sp>
      <p:sp>
        <p:nvSpPr>
          <p:cNvPr name="TextBox 7" id="7"/>
          <p:cNvSpPr txBox="true"/>
          <p:nvPr/>
        </p:nvSpPr>
        <p:spPr>
          <a:xfrm rot="0">
            <a:off x="2171424" y="6693227"/>
            <a:ext cx="13945352" cy="700954"/>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Kelompok 4</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9354900">
            <a:off x="-837848" y="1191778"/>
            <a:ext cx="6738595" cy="0"/>
          </a:xfrm>
          <a:prstGeom prst="line">
            <a:avLst/>
          </a:prstGeom>
          <a:ln cap="rnd" w="19050">
            <a:solidFill>
              <a:srgbClr val="3F3533"/>
            </a:solidFill>
            <a:prstDash val="solid"/>
            <a:headEnd type="none" len="sm" w="sm"/>
            <a:tailEnd type="none" len="sm" w="sm"/>
          </a:ln>
        </p:spPr>
      </p:sp>
      <p:sp>
        <p:nvSpPr>
          <p:cNvPr name="AutoShape 4" id="4"/>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5" id="5"/>
          <p:cNvSpPr/>
          <p:nvPr/>
        </p:nvSpPr>
        <p:spPr>
          <a:xfrm rot="9354900">
            <a:off x="12613005" y="9207627"/>
            <a:ext cx="6738595"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2171324" y="842578"/>
            <a:ext cx="13945352" cy="1971675"/>
          </a:xfrm>
          <a:prstGeom prst="rect">
            <a:avLst/>
          </a:prstGeom>
        </p:spPr>
        <p:txBody>
          <a:bodyPr anchor="t" rtlCol="false" tIns="0" lIns="0" bIns="0" rIns="0">
            <a:spAutoFit/>
          </a:bodyPr>
          <a:lstStyle/>
          <a:p>
            <a:pPr algn="ctr">
              <a:lnSpc>
                <a:spcPts val="15600"/>
              </a:lnSpc>
            </a:pPr>
            <a:r>
              <a:rPr lang="en-US" sz="13000">
                <a:solidFill>
                  <a:srgbClr val="000000"/>
                </a:solidFill>
                <a:latin typeface="Vidaloka"/>
                <a:ea typeface="Vidaloka"/>
                <a:cs typeface="Vidaloka"/>
                <a:sym typeface="Vidaloka"/>
              </a:rPr>
              <a:t>Kelompok 4</a:t>
            </a:r>
          </a:p>
        </p:txBody>
      </p:sp>
      <p:sp>
        <p:nvSpPr>
          <p:cNvPr name="TextBox 7" id="7"/>
          <p:cNvSpPr txBox="true"/>
          <p:nvPr/>
        </p:nvSpPr>
        <p:spPr>
          <a:xfrm rot="0">
            <a:off x="5448525" y="4900612"/>
            <a:ext cx="6610748" cy="485775"/>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-Aditya Maulana Yusuf</a:t>
            </a:r>
          </a:p>
        </p:txBody>
      </p:sp>
      <p:sp>
        <p:nvSpPr>
          <p:cNvPr name="TextBox 8" id="8"/>
          <p:cNvSpPr txBox="true"/>
          <p:nvPr/>
        </p:nvSpPr>
        <p:spPr>
          <a:xfrm rot="0">
            <a:off x="5448525" y="4456593"/>
            <a:ext cx="6610748" cy="485775"/>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-Muhammad Shodik Nur Hasan</a:t>
            </a:r>
          </a:p>
        </p:txBody>
      </p:sp>
      <p:sp>
        <p:nvSpPr>
          <p:cNvPr name="TextBox 9" id="9"/>
          <p:cNvSpPr txBox="true"/>
          <p:nvPr/>
        </p:nvSpPr>
        <p:spPr>
          <a:xfrm rot="0">
            <a:off x="5448525" y="5872162"/>
            <a:ext cx="6610748" cy="485775"/>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-Mochamad Kahfi Fauzi</a:t>
            </a:r>
          </a:p>
        </p:txBody>
      </p:sp>
      <p:sp>
        <p:nvSpPr>
          <p:cNvPr name="TextBox 10" id="10"/>
          <p:cNvSpPr txBox="true"/>
          <p:nvPr/>
        </p:nvSpPr>
        <p:spPr>
          <a:xfrm rot="0">
            <a:off x="5448525" y="5386388"/>
            <a:ext cx="6610748" cy="485775"/>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-Kirani Putri Maulida</a:t>
            </a:r>
          </a:p>
        </p:txBody>
      </p:sp>
      <p:sp>
        <p:nvSpPr>
          <p:cNvPr name="TextBox 11" id="11"/>
          <p:cNvSpPr txBox="true"/>
          <p:nvPr/>
        </p:nvSpPr>
        <p:spPr>
          <a:xfrm rot="0">
            <a:off x="5607420" y="6319838"/>
            <a:ext cx="6610748" cy="485775"/>
          </a:xfrm>
          <a:prstGeom prst="rect">
            <a:avLst/>
          </a:prstGeom>
        </p:spPr>
        <p:txBody>
          <a:bodyPr anchor="t" rtlCol="false" tIns="0" lIns="0" bIns="0" rIns="0">
            <a:spAutoFit/>
          </a:bodyPr>
          <a:lstStyle/>
          <a:p>
            <a:pPr algn="ctr">
              <a:lnSpc>
                <a:spcPts val="3840"/>
              </a:lnSpc>
            </a:pPr>
            <a:r>
              <a:rPr lang="en-US" sz="3200">
                <a:solidFill>
                  <a:srgbClr val="000000"/>
                </a:solidFill>
                <a:latin typeface="Montserrat"/>
                <a:ea typeface="Montserrat"/>
                <a:cs typeface="Montserrat"/>
                <a:sym typeface="Montserrat"/>
              </a:rPr>
              <a:t>-Zimmi Rezkyana</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9354900">
            <a:off x="-837848" y="1191778"/>
            <a:ext cx="6738595" cy="0"/>
          </a:xfrm>
          <a:prstGeom prst="line">
            <a:avLst/>
          </a:prstGeom>
          <a:ln cap="rnd" w="19050">
            <a:solidFill>
              <a:srgbClr val="3F3533"/>
            </a:solidFill>
            <a:prstDash val="solid"/>
            <a:headEnd type="none" len="sm" w="sm"/>
            <a:tailEnd type="none" len="sm" w="sm"/>
          </a:ln>
        </p:spPr>
      </p:sp>
      <p:sp>
        <p:nvSpPr>
          <p:cNvPr name="AutoShape 4" id="4"/>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5" id="5"/>
          <p:cNvSpPr/>
          <p:nvPr/>
        </p:nvSpPr>
        <p:spPr>
          <a:xfrm rot="9354900">
            <a:off x="12613005" y="9207627"/>
            <a:ext cx="6738595"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2394147" y="2914937"/>
            <a:ext cx="13945352" cy="3429000"/>
          </a:xfrm>
          <a:prstGeom prst="rect">
            <a:avLst/>
          </a:prstGeom>
        </p:spPr>
        <p:txBody>
          <a:bodyPr anchor="t" rtlCol="false" tIns="0" lIns="0" bIns="0" rIns="0">
            <a:spAutoFit/>
          </a:bodyPr>
          <a:lstStyle/>
          <a:p>
            <a:pPr algn="ctr">
              <a:lnSpc>
                <a:spcPts val="13560"/>
              </a:lnSpc>
            </a:pPr>
            <a:r>
              <a:rPr lang="en-US" sz="11300">
                <a:solidFill>
                  <a:srgbClr val="000000"/>
                </a:solidFill>
                <a:latin typeface="Vidaloka"/>
                <a:ea typeface="Vidaloka"/>
                <a:cs typeface="Vidaloka"/>
                <a:sym typeface="Vidaloka"/>
              </a:rPr>
              <a:t>Tujuan </a:t>
            </a:r>
          </a:p>
          <a:p>
            <a:pPr algn="ctr">
              <a:lnSpc>
                <a:spcPts val="13560"/>
              </a:lnSpc>
            </a:pPr>
            <a:r>
              <a:rPr lang="en-US" sz="11300">
                <a:solidFill>
                  <a:srgbClr val="000000"/>
                </a:solidFill>
                <a:latin typeface="Vidaloka"/>
                <a:ea typeface="Vidaloka"/>
                <a:cs typeface="Vidaloka"/>
                <a:sym typeface="Vidaloka"/>
              </a:rPr>
              <a:t>pembuatan</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1598006" y="1940780"/>
            <a:ext cx="13945352" cy="485775"/>
          </a:xfrm>
          <a:prstGeom prst="rect">
            <a:avLst/>
          </a:prstGeom>
        </p:spPr>
        <p:txBody>
          <a:bodyPr anchor="t" rtlCol="false" tIns="0" lIns="0" bIns="0" rIns="0">
            <a:spAutoFit/>
          </a:bodyPr>
          <a:lstStyle/>
          <a:p>
            <a:pPr algn="ctr">
              <a:lnSpc>
                <a:spcPts val="3840"/>
              </a:lnSpc>
            </a:pPr>
            <a:r>
              <a:rPr lang="en-US" b="true" sz="3200">
                <a:solidFill>
                  <a:srgbClr val="000000"/>
                </a:solidFill>
                <a:latin typeface="Montserrat Bold"/>
                <a:ea typeface="Montserrat Bold"/>
                <a:cs typeface="Montserrat Bold"/>
                <a:sym typeface="Montserrat Bold"/>
              </a:rPr>
              <a:t>1.Mempermudah pengelolaan parkir</a:t>
            </a:r>
          </a:p>
        </p:txBody>
      </p:sp>
      <p:sp>
        <p:nvSpPr>
          <p:cNvPr name="TextBox 5" id="5"/>
          <p:cNvSpPr txBox="true"/>
          <p:nvPr/>
        </p:nvSpPr>
        <p:spPr>
          <a:xfrm rot="0">
            <a:off x="2328503" y="2692773"/>
            <a:ext cx="13945352" cy="971550"/>
          </a:xfrm>
          <a:prstGeom prst="rect">
            <a:avLst/>
          </a:prstGeom>
        </p:spPr>
        <p:txBody>
          <a:bodyPr anchor="t" rtlCol="false" tIns="0" lIns="0" bIns="0" rIns="0">
            <a:spAutoFit/>
          </a:bodyPr>
          <a:lstStyle/>
          <a:p>
            <a:pPr algn="l">
              <a:lnSpc>
                <a:spcPts val="3840"/>
              </a:lnSpc>
            </a:pPr>
            <a:r>
              <a:rPr lang="en-US" sz="3200">
                <a:solidFill>
                  <a:srgbClr val="000000"/>
                </a:solidFill>
                <a:latin typeface="Montserrat"/>
                <a:ea typeface="Montserrat"/>
                <a:cs typeface="Montserrat"/>
                <a:sym typeface="Montserrat"/>
              </a:rPr>
              <a:t>Aplikasi ini dibuat untuk membantu proses pengelolaan parkir agar lebih terstruktur</a:t>
            </a:r>
          </a:p>
        </p:txBody>
      </p:sp>
      <p:sp>
        <p:nvSpPr>
          <p:cNvPr name="TextBox 6" id="6"/>
          <p:cNvSpPr txBox="true"/>
          <p:nvPr/>
        </p:nvSpPr>
        <p:spPr>
          <a:xfrm rot="0">
            <a:off x="-1208065" y="4160012"/>
            <a:ext cx="13945352" cy="485775"/>
          </a:xfrm>
          <a:prstGeom prst="rect">
            <a:avLst/>
          </a:prstGeom>
        </p:spPr>
        <p:txBody>
          <a:bodyPr anchor="t" rtlCol="false" tIns="0" lIns="0" bIns="0" rIns="0">
            <a:spAutoFit/>
          </a:bodyPr>
          <a:lstStyle/>
          <a:p>
            <a:pPr algn="ctr">
              <a:lnSpc>
                <a:spcPts val="3840"/>
              </a:lnSpc>
            </a:pPr>
            <a:r>
              <a:rPr lang="en-US" b="true" sz="3200">
                <a:solidFill>
                  <a:srgbClr val="000000"/>
                </a:solidFill>
                <a:latin typeface="Montserrat Bold"/>
                <a:ea typeface="Montserrat Bold"/>
                <a:cs typeface="Montserrat Bold"/>
                <a:sym typeface="Montserrat Bold"/>
              </a:rPr>
              <a:t>2.Meningkatkan efesiensi kerja petugas</a:t>
            </a:r>
          </a:p>
        </p:txBody>
      </p:sp>
      <p:sp>
        <p:nvSpPr>
          <p:cNvPr name="TextBox 7" id="7"/>
          <p:cNvSpPr txBox="true"/>
          <p:nvPr/>
        </p:nvSpPr>
        <p:spPr>
          <a:xfrm rot="0">
            <a:off x="2328503" y="4805485"/>
            <a:ext cx="13945352" cy="971550"/>
          </a:xfrm>
          <a:prstGeom prst="rect">
            <a:avLst/>
          </a:prstGeom>
        </p:spPr>
        <p:txBody>
          <a:bodyPr anchor="t" rtlCol="false" tIns="0" lIns="0" bIns="0" rIns="0">
            <a:spAutoFit/>
          </a:bodyPr>
          <a:lstStyle/>
          <a:p>
            <a:pPr algn="l">
              <a:lnSpc>
                <a:spcPts val="3840"/>
              </a:lnSpc>
            </a:pPr>
            <a:r>
              <a:rPr lang="en-US" sz="3200">
                <a:solidFill>
                  <a:srgbClr val="000000"/>
                </a:solidFill>
                <a:latin typeface="Montserrat"/>
                <a:ea typeface="Montserrat"/>
                <a:cs typeface="Montserrat"/>
                <a:sym typeface="Montserrat"/>
              </a:rPr>
              <a:t>Petugas dapat melakukan input data,transaksi dan pencetakan struk lebih cepat dan praktis</a:t>
            </a:r>
          </a:p>
        </p:txBody>
      </p:sp>
      <p:sp>
        <p:nvSpPr>
          <p:cNvPr name="TextBox 8" id="8"/>
          <p:cNvSpPr txBox="true"/>
          <p:nvPr/>
        </p:nvSpPr>
        <p:spPr>
          <a:xfrm rot="0">
            <a:off x="-173673" y="6292976"/>
            <a:ext cx="13945352" cy="485775"/>
          </a:xfrm>
          <a:prstGeom prst="rect">
            <a:avLst/>
          </a:prstGeom>
        </p:spPr>
        <p:txBody>
          <a:bodyPr anchor="t" rtlCol="false" tIns="0" lIns="0" bIns="0" rIns="0">
            <a:spAutoFit/>
          </a:bodyPr>
          <a:lstStyle/>
          <a:p>
            <a:pPr algn="ctr">
              <a:lnSpc>
                <a:spcPts val="3840"/>
              </a:lnSpc>
            </a:pPr>
            <a:r>
              <a:rPr lang="en-US" b="true" sz="3200">
                <a:solidFill>
                  <a:srgbClr val="000000"/>
                </a:solidFill>
                <a:latin typeface="Montserrat Bold"/>
                <a:ea typeface="Montserrat Bold"/>
                <a:cs typeface="Montserrat Bold"/>
                <a:sym typeface="Montserrat Bold"/>
              </a:rPr>
              <a:t>3.Memudahkan monitoring oleh admin dan owner</a:t>
            </a:r>
          </a:p>
        </p:txBody>
      </p:sp>
      <p:sp>
        <p:nvSpPr>
          <p:cNvPr name="TextBox 9" id="9"/>
          <p:cNvSpPr txBox="true"/>
          <p:nvPr/>
        </p:nvSpPr>
        <p:spPr>
          <a:xfrm rot="0">
            <a:off x="2328503" y="7045451"/>
            <a:ext cx="13945352" cy="971550"/>
          </a:xfrm>
          <a:prstGeom prst="rect">
            <a:avLst/>
          </a:prstGeom>
        </p:spPr>
        <p:txBody>
          <a:bodyPr anchor="t" rtlCol="false" tIns="0" lIns="0" bIns="0" rIns="0">
            <a:spAutoFit/>
          </a:bodyPr>
          <a:lstStyle/>
          <a:p>
            <a:pPr algn="l">
              <a:lnSpc>
                <a:spcPts val="3840"/>
              </a:lnSpc>
            </a:pPr>
            <a:r>
              <a:rPr lang="en-US" sz="3200">
                <a:solidFill>
                  <a:srgbClr val="000000"/>
                </a:solidFill>
                <a:latin typeface="Montserrat"/>
                <a:ea typeface="Montserrat"/>
                <a:cs typeface="Montserrat"/>
                <a:sym typeface="Montserrat"/>
              </a:rPr>
              <a:t>Sistem dapat menghasilkan laporan yang berguna untuk analisis dan pengambilan keputusan</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7220002" y="746786"/>
            <a:ext cx="6984749" cy="972074"/>
          </a:xfrm>
          <a:prstGeom prst="rect">
            <a:avLst/>
          </a:prstGeom>
        </p:spPr>
        <p:txBody>
          <a:bodyPr anchor="t" rtlCol="false" tIns="0" lIns="0" bIns="0" rIns="0">
            <a:spAutoFit/>
          </a:bodyPr>
          <a:lstStyle/>
          <a:p>
            <a:pPr algn="l">
              <a:lnSpc>
                <a:spcPts val="9120"/>
              </a:lnSpc>
            </a:pPr>
            <a:r>
              <a:rPr lang="en-US" sz="7600">
                <a:solidFill>
                  <a:srgbClr val="3F3533"/>
                </a:solidFill>
                <a:latin typeface="Vidaloka"/>
                <a:ea typeface="Vidaloka"/>
                <a:cs typeface="Vidaloka"/>
                <a:sym typeface="Vidaloka"/>
              </a:rPr>
              <a:t>Aktor</a:t>
            </a:r>
          </a:p>
        </p:txBody>
      </p:sp>
      <p:sp>
        <p:nvSpPr>
          <p:cNvPr name="TextBox 5" id="5"/>
          <p:cNvSpPr txBox="true"/>
          <p:nvPr/>
        </p:nvSpPr>
        <p:spPr>
          <a:xfrm rot="0">
            <a:off x="3587925" y="2404120"/>
            <a:ext cx="4789351" cy="609829"/>
          </a:xfrm>
          <a:prstGeom prst="rect">
            <a:avLst/>
          </a:prstGeom>
        </p:spPr>
        <p:txBody>
          <a:bodyPr anchor="t" rtlCol="false" tIns="0" lIns="0" bIns="0" rIns="0">
            <a:spAutoFit/>
          </a:bodyPr>
          <a:lstStyle/>
          <a:p>
            <a:pPr algn="l">
              <a:lnSpc>
                <a:spcPts val="5759"/>
              </a:lnSpc>
            </a:pPr>
            <a:r>
              <a:rPr lang="en-US" sz="4800">
                <a:solidFill>
                  <a:srgbClr val="000000"/>
                </a:solidFill>
                <a:latin typeface="Vidaloka"/>
                <a:ea typeface="Vidaloka"/>
                <a:cs typeface="Vidaloka"/>
                <a:sym typeface="Vidaloka"/>
              </a:rPr>
              <a:t>Admin</a:t>
            </a:r>
          </a:p>
        </p:txBody>
      </p:sp>
      <p:sp>
        <p:nvSpPr>
          <p:cNvPr name="TextBox 6" id="6"/>
          <p:cNvSpPr txBox="true"/>
          <p:nvPr/>
        </p:nvSpPr>
        <p:spPr>
          <a:xfrm rot="0">
            <a:off x="12200017" y="2278165"/>
            <a:ext cx="4789351" cy="609829"/>
          </a:xfrm>
          <a:prstGeom prst="rect">
            <a:avLst/>
          </a:prstGeom>
        </p:spPr>
        <p:txBody>
          <a:bodyPr anchor="t" rtlCol="false" tIns="0" lIns="0" bIns="0" rIns="0">
            <a:spAutoFit/>
          </a:bodyPr>
          <a:lstStyle/>
          <a:p>
            <a:pPr algn="l">
              <a:lnSpc>
                <a:spcPts val="5759"/>
              </a:lnSpc>
            </a:pPr>
            <a:r>
              <a:rPr lang="en-US" sz="4800">
                <a:solidFill>
                  <a:srgbClr val="000000"/>
                </a:solidFill>
                <a:latin typeface="Vidaloka"/>
                <a:ea typeface="Vidaloka"/>
                <a:cs typeface="Vidaloka"/>
                <a:sym typeface="Vidaloka"/>
              </a:rPr>
              <a:t>Petugas</a:t>
            </a:r>
          </a:p>
        </p:txBody>
      </p:sp>
      <p:sp>
        <p:nvSpPr>
          <p:cNvPr name="TextBox 7" id="7"/>
          <p:cNvSpPr txBox="true"/>
          <p:nvPr/>
        </p:nvSpPr>
        <p:spPr>
          <a:xfrm rot="0">
            <a:off x="12200017" y="3449968"/>
            <a:ext cx="4789351" cy="1044826"/>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Petugas adalah pihak yang bertugas menjalankan operasional sistem di lapangan, seperti mencatat kendaraan masuk dan keluar serta memastikan data yang diinput sesuai dengan kondisi sebenarnya.</a:t>
            </a:r>
          </a:p>
        </p:txBody>
      </p:sp>
      <p:sp>
        <p:nvSpPr>
          <p:cNvPr name="TextBox 8" id="8"/>
          <p:cNvSpPr txBox="true"/>
          <p:nvPr/>
        </p:nvSpPr>
        <p:spPr>
          <a:xfrm rot="0">
            <a:off x="3587925" y="3213116"/>
            <a:ext cx="4789351" cy="1044826"/>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Admin adalah pihak yang bertanggung jawab mengelola seluruh aktivitas dalam sistem.</a:t>
            </a:r>
          </a:p>
        </p:txBody>
      </p:sp>
      <p:sp>
        <p:nvSpPr>
          <p:cNvPr name="TextBox 9" id="9"/>
          <p:cNvSpPr txBox="true"/>
          <p:nvPr/>
        </p:nvSpPr>
        <p:spPr>
          <a:xfrm rot="0">
            <a:off x="3587925" y="5366499"/>
            <a:ext cx="4789351" cy="730425"/>
          </a:xfrm>
          <a:prstGeom prst="rect">
            <a:avLst/>
          </a:prstGeom>
        </p:spPr>
        <p:txBody>
          <a:bodyPr anchor="t" rtlCol="false" tIns="0" lIns="0" bIns="0" rIns="0">
            <a:spAutoFit/>
          </a:bodyPr>
          <a:lstStyle/>
          <a:p>
            <a:pPr algn="l">
              <a:lnSpc>
                <a:spcPts val="5759"/>
              </a:lnSpc>
            </a:pPr>
            <a:r>
              <a:rPr lang="en-US" sz="4800">
                <a:solidFill>
                  <a:srgbClr val="000000"/>
                </a:solidFill>
                <a:latin typeface="Vidaloka"/>
                <a:ea typeface="Vidaloka"/>
                <a:cs typeface="Vidaloka"/>
                <a:sym typeface="Vidaloka"/>
              </a:rPr>
              <a:t>Owner</a:t>
            </a:r>
          </a:p>
        </p:txBody>
      </p:sp>
      <p:sp>
        <p:nvSpPr>
          <p:cNvPr name="TextBox 10" id="10"/>
          <p:cNvSpPr txBox="true"/>
          <p:nvPr/>
        </p:nvSpPr>
        <p:spPr>
          <a:xfrm rot="0">
            <a:off x="3587925" y="6223606"/>
            <a:ext cx="7605027" cy="1044826"/>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Owner adalah pihak yang memiliki kendali terhadap operasional parkir secara keseluruhan. Dalam sistem ini, owner tidak terlibat langsung dalam proses input data seperti petugas, tetapi lebih berfokus pada pemantauan dan evaluasi kinerja.</a:t>
            </a:r>
          </a:p>
        </p:txBody>
      </p:sp>
      <p:sp>
        <p:nvSpPr>
          <p:cNvPr name="TextBox 11" id="11"/>
          <p:cNvSpPr txBox="true"/>
          <p:nvPr/>
        </p:nvSpPr>
        <p:spPr>
          <a:xfrm rot="0">
            <a:off x="2747796" y="2118484"/>
            <a:ext cx="346948" cy="1162050"/>
          </a:xfrm>
          <a:prstGeom prst="rect">
            <a:avLst/>
          </a:prstGeom>
        </p:spPr>
        <p:txBody>
          <a:bodyPr anchor="t" rtlCol="false" tIns="0" lIns="0" bIns="0" rIns="0">
            <a:spAutoFit/>
          </a:bodyPr>
          <a:lstStyle/>
          <a:p>
            <a:pPr algn="ctr">
              <a:lnSpc>
                <a:spcPts val="9120"/>
              </a:lnSpc>
            </a:pPr>
            <a:r>
              <a:rPr lang="en-US" sz="7600">
                <a:solidFill>
                  <a:srgbClr val="3F3533"/>
                </a:solidFill>
                <a:latin typeface="Vidaloka"/>
                <a:ea typeface="Vidaloka"/>
                <a:cs typeface="Vidaloka"/>
                <a:sym typeface="Vidaloka"/>
              </a:rPr>
              <a:t>1</a:t>
            </a:r>
          </a:p>
        </p:txBody>
      </p:sp>
      <p:sp>
        <p:nvSpPr>
          <p:cNvPr name="TextBox 12" id="12"/>
          <p:cNvSpPr txBox="true"/>
          <p:nvPr/>
        </p:nvSpPr>
        <p:spPr>
          <a:xfrm rot="0">
            <a:off x="11406964" y="1992529"/>
            <a:ext cx="504825" cy="1162050"/>
          </a:xfrm>
          <a:prstGeom prst="rect">
            <a:avLst/>
          </a:prstGeom>
        </p:spPr>
        <p:txBody>
          <a:bodyPr anchor="t" rtlCol="false" tIns="0" lIns="0" bIns="0" rIns="0">
            <a:spAutoFit/>
          </a:bodyPr>
          <a:lstStyle/>
          <a:p>
            <a:pPr algn="ctr">
              <a:lnSpc>
                <a:spcPts val="9120"/>
              </a:lnSpc>
            </a:pPr>
            <a:r>
              <a:rPr lang="en-US" sz="7600">
                <a:solidFill>
                  <a:srgbClr val="3F3533"/>
                </a:solidFill>
                <a:latin typeface="Vidaloka"/>
                <a:ea typeface="Vidaloka"/>
                <a:cs typeface="Vidaloka"/>
                <a:sym typeface="Vidaloka"/>
              </a:rPr>
              <a:t>2</a:t>
            </a:r>
          </a:p>
        </p:txBody>
      </p:sp>
      <p:sp>
        <p:nvSpPr>
          <p:cNvPr name="TextBox 13" id="13"/>
          <p:cNvSpPr txBox="true"/>
          <p:nvPr/>
        </p:nvSpPr>
        <p:spPr>
          <a:xfrm rot="0">
            <a:off x="2681121" y="5133975"/>
            <a:ext cx="517922" cy="1162050"/>
          </a:xfrm>
          <a:prstGeom prst="rect">
            <a:avLst/>
          </a:prstGeom>
        </p:spPr>
        <p:txBody>
          <a:bodyPr anchor="t" rtlCol="false" tIns="0" lIns="0" bIns="0" rIns="0">
            <a:spAutoFit/>
          </a:bodyPr>
          <a:lstStyle/>
          <a:p>
            <a:pPr algn="ctr">
              <a:lnSpc>
                <a:spcPts val="9120"/>
              </a:lnSpc>
            </a:pPr>
            <a:r>
              <a:rPr lang="en-US" sz="7600">
                <a:solidFill>
                  <a:srgbClr val="3F3533"/>
                </a:solidFill>
                <a:latin typeface="Vidaloka"/>
                <a:ea typeface="Vidaloka"/>
                <a:cs typeface="Vidaloka"/>
                <a:sym typeface="Vidaloka"/>
              </a:rPr>
              <a:t>3</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1957683" y="3039561"/>
            <a:ext cx="13860075"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Admin merupakan aktor yang paling mengendali sistem. Admin login untuk masuk, Lalu mangurus semua data kendaraan, dari tambah, Update, sampai hapus. Setiap data kendaraan masuk atau keluar juga dicatat oleh admin agar data ke-save rapih di sistem.</a:t>
            </a:r>
            <a:r>
              <a:rPr lang="en-US" sz="2799">
                <a:solidFill>
                  <a:srgbClr val="000000"/>
                </a:solidFill>
                <a:latin typeface="Montserrat"/>
                <a:ea typeface="Montserrat"/>
                <a:cs typeface="Montserrat"/>
                <a:sym typeface="Montserrat"/>
              </a:rPr>
              <a:t>Admin bisa ngecek semua data parkir kapan aja, jadi tau kondisi yang lagi jalan.</a:t>
            </a:r>
          </a:p>
        </p:txBody>
      </p:sp>
      <p:sp>
        <p:nvSpPr>
          <p:cNvPr name="TextBox 5" id="5"/>
          <p:cNvSpPr txBox="true"/>
          <p:nvPr/>
        </p:nvSpPr>
        <p:spPr>
          <a:xfrm rot="0">
            <a:off x="6491945" y="1160231"/>
            <a:ext cx="4791561" cy="962549"/>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Admin</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4584373" y="1155325"/>
            <a:ext cx="9119245" cy="1016556"/>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Petugas</a:t>
            </a:r>
          </a:p>
        </p:txBody>
      </p:sp>
      <p:sp>
        <p:nvSpPr>
          <p:cNvPr name="TextBox 5" id="5"/>
          <p:cNvSpPr txBox="true"/>
          <p:nvPr/>
        </p:nvSpPr>
        <p:spPr>
          <a:xfrm rot="0">
            <a:off x="2789949" y="2272846"/>
            <a:ext cx="13385302" cy="2085975"/>
          </a:xfrm>
          <a:prstGeom prst="rect">
            <a:avLst/>
          </a:prstGeom>
        </p:spPr>
        <p:txBody>
          <a:bodyPr anchor="t" rtlCol="false" tIns="0" lIns="0" bIns="0" rIns="0">
            <a:spAutoFit/>
          </a:bodyPr>
          <a:lstStyle/>
          <a:p>
            <a:pPr algn="l">
              <a:lnSpc>
                <a:spcPts val="3359"/>
              </a:lnSpc>
            </a:pPr>
          </a:p>
          <a:p>
            <a:pPr algn="l">
              <a:lnSpc>
                <a:spcPts val="3359"/>
              </a:lnSpc>
            </a:pPr>
            <a:r>
              <a:rPr lang="en-US" sz="2799">
                <a:solidFill>
                  <a:srgbClr val="000000"/>
                </a:solidFill>
                <a:latin typeface="Montserrat"/>
                <a:ea typeface="Montserrat"/>
                <a:cs typeface="Montserrat"/>
                <a:sym typeface="Montserrat"/>
              </a:rPr>
              <a:t>Petugas merupakan aktor yang bertanggung jawab menjalankan operasional parkir secara langsung melalui system.Petugas melakukan pencatatan data kendaraan yang masuk,seperti nomor plat, jenis kendaraan, dan waktu masuk.</a:t>
            </a:r>
          </a:p>
        </p:txBody>
      </p:sp>
      <p:sp>
        <p:nvSpPr>
          <p:cNvPr name="TextBox 6" id="6"/>
          <p:cNvSpPr txBox="true"/>
          <p:nvPr/>
        </p:nvSpPr>
        <p:spPr>
          <a:xfrm rot="0">
            <a:off x="2789949" y="4754332"/>
            <a:ext cx="13550313"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Petugas juga memperbarui data kendaraan saat keluar, sehingga system dapat menghitung durasi parkir dan menentukan biaya yang harus di bayar.Petugas kemudian memperoses transaksi pembayaran sesuai dengan hasil perhitungan system.</a:t>
            </a:r>
          </a:p>
          <a:p>
            <a:pPr algn="l">
              <a:lnSpc>
                <a:spcPts val="3359"/>
              </a:lnSpc>
            </a:pP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8921220">
            <a:off x="14546494" y="9258805"/>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8921220">
            <a:off x="-836257" y="1009155"/>
            <a:ext cx="4577763"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7260546" y="1350826"/>
            <a:ext cx="3766918" cy="1016556"/>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Owner</a:t>
            </a:r>
          </a:p>
        </p:txBody>
      </p:sp>
      <p:sp>
        <p:nvSpPr>
          <p:cNvPr name="TextBox 7" id="7"/>
          <p:cNvSpPr txBox="true"/>
          <p:nvPr/>
        </p:nvSpPr>
        <p:spPr>
          <a:xfrm rot="0">
            <a:off x="3819400" y="3769505"/>
            <a:ext cx="11645884" cy="16668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Owner merupakan aktor yang memiliki peran sebagai pemilik.Owner tidak terlibat langsung dalam system,namun bertanggung jawab dalam melakukan pengawasan dan pengambilan Keputusan berdasarkan data yang tersedia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3411950" y="7468905"/>
            <a:ext cx="11464100" cy="12477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pengguna harus login untuk masuk ke sistem sesuai akun yang dimiliki. Sistem akan menyesuaikan tampilan berdasarkan role pengguna.</a:t>
            </a:r>
          </a:p>
        </p:txBody>
      </p:sp>
      <p:sp>
        <p:nvSpPr>
          <p:cNvPr name="TextBox 5" id="5"/>
          <p:cNvSpPr txBox="true"/>
          <p:nvPr/>
        </p:nvSpPr>
        <p:spPr>
          <a:xfrm rot="0">
            <a:off x="2933729" y="1100804"/>
            <a:ext cx="11176949" cy="914400"/>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Login</a:t>
            </a:r>
          </a:p>
        </p:txBody>
      </p:sp>
      <p:grpSp>
        <p:nvGrpSpPr>
          <p:cNvPr name="Group 6" id="6"/>
          <p:cNvGrpSpPr/>
          <p:nvPr/>
        </p:nvGrpSpPr>
        <p:grpSpPr>
          <a:xfrm rot="0">
            <a:off x="4846000" y="2406039"/>
            <a:ext cx="7909465" cy="4662507"/>
            <a:chOff x="0" y="0"/>
            <a:chExt cx="10545953" cy="6216675"/>
          </a:xfrm>
        </p:grpSpPr>
        <p:sp>
          <p:nvSpPr>
            <p:cNvPr name="Freeform 7" id="7"/>
            <p:cNvSpPr/>
            <p:nvPr/>
          </p:nvSpPr>
          <p:spPr>
            <a:xfrm flipH="false" flipV="false" rot="0">
              <a:off x="0" y="0"/>
              <a:ext cx="10545953" cy="6216650"/>
            </a:xfrm>
            <a:custGeom>
              <a:avLst/>
              <a:gdLst/>
              <a:ahLst/>
              <a:cxnLst/>
              <a:rect r="r" b="b" t="t" l="l"/>
              <a:pathLst>
                <a:path h="6216650" w="10545953">
                  <a:moveTo>
                    <a:pt x="0" y="0"/>
                  </a:moveTo>
                  <a:lnTo>
                    <a:pt x="10545953" y="0"/>
                  </a:lnTo>
                  <a:lnTo>
                    <a:pt x="10545953" y="6216650"/>
                  </a:lnTo>
                  <a:lnTo>
                    <a:pt x="0" y="6216650"/>
                  </a:lnTo>
                  <a:lnTo>
                    <a:pt x="0" y="0"/>
                  </a:lnTo>
                  <a:close/>
                </a:path>
              </a:pathLst>
            </a:custGeom>
            <a:blipFill>
              <a:blip r:embed="rId3"/>
              <a:stretch>
                <a:fillRect l="0" t="0" r="0" b="0"/>
              </a:stretch>
            </a:blipFill>
            <a:ln w="38100" cap="sq">
              <a:solidFill>
                <a:srgbClr val="000000"/>
              </a:solid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2812810" y="840516"/>
            <a:ext cx="11176949" cy="1090298"/>
          </a:xfrm>
          <a:prstGeom prst="rect">
            <a:avLst/>
          </a:prstGeom>
        </p:spPr>
        <p:txBody>
          <a:bodyPr anchor="t" rtlCol="false" tIns="0" lIns="0" bIns="0" rIns="0">
            <a:spAutoFit/>
          </a:bodyPr>
          <a:lstStyle/>
          <a:p>
            <a:pPr algn="ctr">
              <a:lnSpc>
                <a:spcPts val="6719"/>
              </a:lnSpc>
            </a:pPr>
            <a:r>
              <a:rPr lang="en-US" sz="5599">
                <a:solidFill>
                  <a:srgbClr val="000000"/>
                </a:solidFill>
                <a:latin typeface="Vidaloka"/>
                <a:ea typeface="Vidaloka"/>
                <a:cs typeface="Vidaloka"/>
                <a:sym typeface="Vidaloka"/>
              </a:rPr>
              <a:t>Dashboard Admin</a:t>
            </a:r>
          </a:p>
        </p:txBody>
      </p:sp>
      <p:grpSp>
        <p:nvGrpSpPr>
          <p:cNvPr name="Group 5" id="5"/>
          <p:cNvGrpSpPr/>
          <p:nvPr/>
        </p:nvGrpSpPr>
        <p:grpSpPr>
          <a:xfrm rot="0">
            <a:off x="3595868" y="1930815"/>
            <a:ext cx="9973589" cy="5080302"/>
            <a:chOff x="0" y="0"/>
            <a:chExt cx="13298119" cy="6773736"/>
          </a:xfrm>
        </p:grpSpPr>
        <p:sp>
          <p:nvSpPr>
            <p:cNvPr name="Freeform 6" id="6"/>
            <p:cNvSpPr/>
            <p:nvPr/>
          </p:nvSpPr>
          <p:spPr>
            <a:xfrm flipH="false" flipV="false" rot="0">
              <a:off x="0" y="0"/>
              <a:ext cx="13298170" cy="6773672"/>
            </a:xfrm>
            <a:custGeom>
              <a:avLst/>
              <a:gdLst/>
              <a:ahLst/>
              <a:cxnLst/>
              <a:rect r="r" b="b" t="t" l="l"/>
              <a:pathLst>
                <a:path h="6773672" w="13298170">
                  <a:moveTo>
                    <a:pt x="0" y="0"/>
                  </a:moveTo>
                  <a:lnTo>
                    <a:pt x="13298170" y="0"/>
                  </a:lnTo>
                  <a:lnTo>
                    <a:pt x="13298170" y="6773672"/>
                  </a:lnTo>
                  <a:lnTo>
                    <a:pt x="0" y="6773672"/>
                  </a:lnTo>
                  <a:lnTo>
                    <a:pt x="0" y="0"/>
                  </a:lnTo>
                  <a:close/>
                </a:path>
              </a:pathLst>
            </a:custGeom>
            <a:blipFill>
              <a:blip r:embed="rId3"/>
              <a:stretch>
                <a:fillRect l="0" t="0" r="0" b="0"/>
              </a:stretch>
            </a:blipFill>
          </p:spPr>
        </p:sp>
      </p:grpSp>
      <p:sp>
        <p:nvSpPr>
          <p:cNvPr name="TextBox 7" id="7"/>
          <p:cNvSpPr txBox="true"/>
          <p:nvPr/>
        </p:nvSpPr>
        <p:spPr>
          <a:xfrm rot="0">
            <a:off x="3411950" y="7468905"/>
            <a:ext cx="11464100" cy="12477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Saat login sebagai admin tampilan dahboard nya akan seperti ini ada tombol berupa akses keluar di samping nya juga ada beberapa fitur yang di jalan kan admin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Freeform 6" id="6"/>
          <p:cNvSpPr/>
          <p:nvPr/>
        </p:nvSpPr>
        <p:spPr>
          <a:xfrm flipH="false" flipV="false" rot="0">
            <a:off x="3238529" y="2738323"/>
            <a:ext cx="11301259" cy="3630529"/>
          </a:xfrm>
          <a:custGeom>
            <a:avLst/>
            <a:gdLst/>
            <a:ahLst/>
            <a:cxnLst/>
            <a:rect r="r" b="b" t="t" l="l"/>
            <a:pathLst>
              <a:path h="3630529" w="11301259">
                <a:moveTo>
                  <a:pt x="0" y="0"/>
                </a:moveTo>
                <a:lnTo>
                  <a:pt x="11301259" y="0"/>
                </a:lnTo>
                <a:lnTo>
                  <a:pt x="11301259" y="3630530"/>
                </a:lnTo>
                <a:lnTo>
                  <a:pt x="0" y="3630530"/>
                </a:lnTo>
                <a:lnTo>
                  <a:pt x="0" y="0"/>
                </a:lnTo>
                <a:close/>
              </a:path>
            </a:pathLst>
          </a:custGeom>
          <a:blipFill>
            <a:blip r:embed="rId3"/>
            <a:stretch>
              <a:fillRect l="0" t="0" r="0" b="0"/>
            </a:stretch>
          </a:blipFill>
        </p:spPr>
      </p:sp>
      <p:sp>
        <p:nvSpPr>
          <p:cNvPr name="TextBox 7" id="7"/>
          <p:cNvSpPr txBox="true"/>
          <p:nvPr/>
        </p:nvSpPr>
        <p:spPr>
          <a:xfrm rot="0">
            <a:off x="3238529" y="6894700"/>
            <a:ext cx="11446745" cy="284656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Admin dapat menambahkan, mengubah, dan menghapus data pengguna. Data yang dikelola meliputi username, password, dan role. Fitur ini digunakan untuk mengatur siapa saja yang dapat mengakses sistem.</a:t>
            </a:r>
          </a:p>
        </p:txBody>
      </p:sp>
      <p:sp>
        <p:nvSpPr>
          <p:cNvPr name="TextBox 8" id="8"/>
          <p:cNvSpPr txBox="true"/>
          <p:nvPr/>
        </p:nvSpPr>
        <p:spPr>
          <a:xfrm rot="0">
            <a:off x="2921537" y="1259453"/>
            <a:ext cx="11176949" cy="962549"/>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Manajemen User (Admin)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Freeform 6" id="6"/>
          <p:cNvSpPr/>
          <p:nvPr/>
        </p:nvSpPr>
        <p:spPr>
          <a:xfrm flipH="false" flipV="false" rot="0">
            <a:off x="1650592" y="1030400"/>
            <a:ext cx="6074183" cy="7093936"/>
          </a:xfrm>
          <a:custGeom>
            <a:avLst/>
            <a:gdLst/>
            <a:ahLst/>
            <a:cxnLst/>
            <a:rect r="r" b="b" t="t" l="l"/>
            <a:pathLst>
              <a:path h="7093936" w="6074183">
                <a:moveTo>
                  <a:pt x="0" y="0"/>
                </a:moveTo>
                <a:lnTo>
                  <a:pt x="6074183" y="0"/>
                </a:lnTo>
                <a:lnTo>
                  <a:pt x="6074183" y="7093936"/>
                </a:lnTo>
                <a:lnTo>
                  <a:pt x="0" y="7093936"/>
                </a:lnTo>
                <a:lnTo>
                  <a:pt x="0" y="0"/>
                </a:lnTo>
                <a:close/>
              </a:path>
            </a:pathLst>
          </a:custGeom>
          <a:blipFill>
            <a:blip r:embed="rId3"/>
            <a:stretch>
              <a:fillRect l="0" t="0" r="0" b="0"/>
            </a:stretch>
          </a:blipFill>
        </p:spPr>
      </p:sp>
      <p:sp>
        <p:nvSpPr>
          <p:cNvPr name="TextBox 7" id="7"/>
          <p:cNvSpPr txBox="true"/>
          <p:nvPr/>
        </p:nvSpPr>
        <p:spPr>
          <a:xfrm rot="0">
            <a:off x="8296976" y="4105275"/>
            <a:ext cx="11446745"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Di sini terdapat form tambah data yang bertujuan </a:t>
            </a:r>
          </a:p>
          <a:p>
            <a:pPr algn="l">
              <a:lnSpc>
                <a:spcPts val="3359"/>
              </a:lnSpc>
            </a:pPr>
            <a:r>
              <a:rPr lang="en-US" sz="2799">
                <a:solidFill>
                  <a:srgbClr val="000000"/>
                </a:solidFill>
                <a:latin typeface="Montserrat"/>
                <a:ea typeface="Montserrat"/>
                <a:cs typeface="Montserrat"/>
                <a:sym typeface="Montserrat"/>
              </a:rPr>
              <a:t>menambahkan data baru.Di form tersebut ada </a:t>
            </a:r>
          </a:p>
          <a:p>
            <a:pPr algn="l">
              <a:lnSpc>
                <a:spcPts val="3359"/>
              </a:lnSpc>
            </a:pPr>
            <a:r>
              <a:rPr lang="en-US" sz="2799">
                <a:solidFill>
                  <a:srgbClr val="000000"/>
                </a:solidFill>
                <a:latin typeface="Montserrat"/>
                <a:ea typeface="Montserrat"/>
                <a:cs typeface="Montserrat"/>
                <a:sym typeface="Montserrat"/>
              </a:rPr>
              <a:t>beberapa yang harus di isi dengan meliputi</a:t>
            </a:r>
          </a:p>
          <a:p>
            <a:pPr algn="l">
              <a:lnSpc>
                <a:spcPts val="3359"/>
              </a:lnSpc>
            </a:pPr>
            <a:r>
              <a:rPr lang="en-US" sz="2799">
                <a:solidFill>
                  <a:srgbClr val="000000"/>
                </a:solidFill>
                <a:latin typeface="Montserrat"/>
                <a:ea typeface="Montserrat"/>
                <a:cs typeface="Montserrat"/>
                <a:sym typeface="Montserrat"/>
              </a:rPr>
              <a:t>nama lengkap, username, password, role, dan juga </a:t>
            </a:r>
          </a:p>
          <a:p>
            <a:pPr algn="l">
              <a:lnSpc>
                <a:spcPts val="3359"/>
              </a:lnSpc>
            </a:pPr>
            <a:r>
              <a:rPr lang="en-US" sz="2799">
                <a:solidFill>
                  <a:srgbClr val="000000"/>
                </a:solidFill>
                <a:latin typeface="Montserrat"/>
                <a:ea typeface="Montserrat"/>
                <a:cs typeface="Montserrat"/>
                <a:sym typeface="Montserrat"/>
              </a:rPr>
              <a:t>status </a:t>
            </a:r>
          </a:p>
        </p:txBody>
      </p:sp>
      <p:sp>
        <p:nvSpPr>
          <p:cNvPr name="TextBox 8" id="8"/>
          <p:cNvSpPr txBox="true"/>
          <p:nvPr/>
        </p:nvSpPr>
        <p:spPr>
          <a:xfrm rot="0">
            <a:off x="10151659" y="1796609"/>
            <a:ext cx="4283273" cy="914400"/>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Tambah data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Freeform 6" id="6"/>
          <p:cNvSpPr/>
          <p:nvPr/>
        </p:nvSpPr>
        <p:spPr>
          <a:xfrm flipH="false" flipV="false" rot="0">
            <a:off x="2152072" y="1395724"/>
            <a:ext cx="5421704" cy="6326668"/>
          </a:xfrm>
          <a:custGeom>
            <a:avLst/>
            <a:gdLst/>
            <a:ahLst/>
            <a:cxnLst/>
            <a:rect r="r" b="b" t="t" l="l"/>
            <a:pathLst>
              <a:path h="6326668" w="5421704">
                <a:moveTo>
                  <a:pt x="0" y="0"/>
                </a:moveTo>
                <a:lnTo>
                  <a:pt x="5421703" y="0"/>
                </a:lnTo>
                <a:lnTo>
                  <a:pt x="5421703" y="6326668"/>
                </a:lnTo>
                <a:lnTo>
                  <a:pt x="0" y="6326668"/>
                </a:lnTo>
                <a:lnTo>
                  <a:pt x="0" y="0"/>
                </a:lnTo>
                <a:close/>
              </a:path>
            </a:pathLst>
          </a:custGeom>
          <a:blipFill>
            <a:blip r:embed="rId3"/>
            <a:stretch>
              <a:fillRect l="0" t="0" r="0" b="0"/>
            </a:stretch>
          </a:blipFill>
        </p:spPr>
      </p:sp>
      <p:sp>
        <p:nvSpPr>
          <p:cNvPr name="TextBox 7" id="7"/>
          <p:cNvSpPr txBox="true"/>
          <p:nvPr/>
        </p:nvSpPr>
        <p:spPr>
          <a:xfrm rot="0">
            <a:off x="8296976" y="4105275"/>
            <a:ext cx="11446745" cy="16668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Disini ada form update data yang bertujuan untuk</a:t>
            </a:r>
          </a:p>
          <a:p>
            <a:pPr algn="l">
              <a:lnSpc>
                <a:spcPts val="3359"/>
              </a:lnSpc>
            </a:pPr>
            <a:r>
              <a:rPr lang="en-US" sz="2799">
                <a:solidFill>
                  <a:srgbClr val="000000"/>
                </a:solidFill>
                <a:latin typeface="Montserrat"/>
                <a:ea typeface="Montserrat"/>
                <a:cs typeface="Montserrat"/>
                <a:sym typeface="Montserrat"/>
              </a:rPr>
              <a:t>mengupdate data yang sudah.Di form tersebut juga</a:t>
            </a:r>
          </a:p>
          <a:p>
            <a:pPr algn="l">
              <a:lnSpc>
                <a:spcPts val="3359"/>
              </a:lnSpc>
            </a:pPr>
            <a:r>
              <a:rPr lang="en-US" sz="2799">
                <a:solidFill>
                  <a:srgbClr val="000000"/>
                </a:solidFill>
                <a:latin typeface="Montserrat"/>
                <a:ea typeface="Montserrat"/>
                <a:cs typeface="Montserrat"/>
                <a:sym typeface="Montserrat"/>
              </a:rPr>
              <a:t>ada beberapa data yang bisa di ubah yang meliputi</a:t>
            </a:r>
          </a:p>
          <a:p>
            <a:pPr algn="l">
              <a:lnSpc>
                <a:spcPts val="3359"/>
              </a:lnSpc>
            </a:pPr>
            <a:r>
              <a:rPr lang="en-US" sz="2799">
                <a:solidFill>
                  <a:srgbClr val="000000"/>
                </a:solidFill>
                <a:latin typeface="Montserrat"/>
                <a:ea typeface="Montserrat"/>
                <a:cs typeface="Montserrat"/>
                <a:sym typeface="Montserrat"/>
              </a:rPr>
              <a:t>password dan juga role</a:t>
            </a:r>
          </a:p>
        </p:txBody>
      </p:sp>
      <p:sp>
        <p:nvSpPr>
          <p:cNvPr name="TextBox 8" id="8"/>
          <p:cNvSpPr txBox="true"/>
          <p:nvPr/>
        </p:nvSpPr>
        <p:spPr>
          <a:xfrm rot="0">
            <a:off x="10298403" y="1796609"/>
            <a:ext cx="3989784" cy="914400"/>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Update 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Freeform 6" id="6"/>
          <p:cNvSpPr/>
          <p:nvPr/>
        </p:nvSpPr>
        <p:spPr>
          <a:xfrm flipH="false" flipV="false" rot="0">
            <a:off x="4076910" y="2758502"/>
            <a:ext cx="10234945" cy="3300186"/>
          </a:xfrm>
          <a:custGeom>
            <a:avLst/>
            <a:gdLst/>
            <a:ahLst/>
            <a:cxnLst/>
            <a:rect r="r" b="b" t="t" l="l"/>
            <a:pathLst>
              <a:path h="3300186" w="10234945">
                <a:moveTo>
                  <a:pt x="0" y="0"/>
                </a:moveTo>
                <a:lnTo>
                  <a:pt x="10234946" y="0"/>
                </a:lnTo>
                <a:lnTo>
                  <a:pt x="10234946" y="3300186"/>
                </a:lnTo>
                <a:lnTo>
                  <a:pt x="0" y="3300186"/>
                </a:lnTo>
                <a:lnTo>
                  <a:pt x="0" y="0"/>
                </a:lnTo>
                <a:close/>
              </a:path>
            </a:pathLst>
          </a:custGeom>
          <a:blipFill>
            <a:blip r:embed="rId3"/>
            <a:stretch>
              <a:fillRect l="-1772" t="0" r="-787" b="-7328"/>
            </a:stretch>
          </a:blipFill>
        </p:spPr>
      </p:sp>
      <p:sp>
        <p:nvSpPr>
          <p:cNvPr name="TextBox 7" id="7"/>
          <p:cNvSpPr txBox="true"/>
          <p:nvPr/>
        </p:nvSpPr>
        <p:spPr>
          <a:xfrm rot="0">
            <a:off x="3612083" y="6563513"/>
            <a:ext cx="11446745" cy="25050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Disini juga terdapat fitur hapus data yang mana jika kita ingin menghapus suatu data di form user kita bisa mengklik tombol hapus yang berada di sebelah tombol update.Setelah kita mengklik kita akan mendapatkan notif seperti gambar di atas yang mana memastikan pengguna untuk menghapus data tersebut</a:t>
            </a:r>
          </a:p>
        </p:txBody>
      </p:sp>
      <p:sp>
        <p:nvSpPr>
          <p:cNvPr name="TextBox 8" id="8"/>
          <p:cNvSpPr txBox="true"/>
          <p:nvPr/>
        </p:nvSpPr>
        <p:spPr>
          <a:xfrm rot="0">
            <a:off x="6647933" y="1259453"/>
            <a:ext cx="3724156" cy="914400"/>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Hapus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8282760">
            <a:off x="15384323" y="9186329"/>
            <a:ext cx="3784054" cy="0"/>
          </a:xfrm>
          <a:prstGeom prst="line">
            <a:avLst/>
          </a:prstGeom>
          <a:ln cap="rnd" w="19050">
            <a:solidFill>
              <a:srgbClr val="3F3533"/>
            </a:solidFill>
            <a:prstDash val="solid"/>
            <a:headEnd type="none" len="sm" w="sm"/>
            <a:tailEnd type="none" len="sm" w="sm"/>
          </a:ln>
        </p:spPr>
      </p:sp>
      <p:sp>
        <p:nvSpPr>
          <p:cNvPr name="AutoShape 5" id="5"/>
          <p:cNvSpPr/>
          <p:nvPr/>
        </p:nvSpPr>
        <p:spPr>
          <a:xfrm rot="8576400">
            <a:off x="-620668" y="877472"/>
            <a:ext cx="3627234"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3903897" y="958987"/>
            <a:ext cx="10480196" cy="1773746"/>
          </a:xfrm>
          <a:prstGeom prst="rect">
            <a:avLst/>
          </a:prstGeom>
        </p:spPr>
        <p:txBody>
          <a:bodyPr anchor="t" rtlCol="false" tIns="0" lIns="0" bIns="0" rIns="0">
            <a:spAutoFit/>
          </a:bodyPr>
          <a:lstStyle/>
          <a:p>
            <a:pPr algn="l">
              <a:lnSpc>
                <a:spcPts val="6719"/>
              </a:lnSpc>
            </a:pPr>
            <a:r>
              <a:rPr lang="en-US" sz="5599">
                <a:solidFill>
                  <a:srgbClr val="3F3533"/>
                </a:solidFill>
                <a:latin typeface="Vidaloka"/>
                <a:ea typeface="Vidaloka"/>
                <a:cs typeface="Vidaloka"/>
                <a:sym typeface="Vidaloka"/>
              </a:rPr>
              <a:t>Manajemen Kendaraan (Admin)</a:t>
            </a:r>
          </a:p>
        </p:txBody>
      </p:sp>
      <p:sp>
        <p:nvSpPr>
          <p:cNvPr name="TextBox 7" id="7"/>
          <p:cNvSpPr txBox="true"/>
          <p:nvPr/>
        </p:nvSpPr>
        <p:spPr>
          <a:xfrm rot="0">
            <a:off x="2830039" y="7170791"/>
            <a:ext cx="12627912"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Admin dapat melihat dan mengelola data kendaraan yang tersimpan dalam sistem. Data ini mencakup nomor plat dan jenis kendaraan. Fitur ini membantu dalam pendataan kendaraan yang pernah masuk,disini juga terdapat fitur yang sama dengan sebelumnya yang mana kenggunaan nya sama</a:t>
            </a:r>
          </a:p>
        </p:txBody>
      </p:sp>
      <p:grpSp>
        <p:nvGrpSpPr>
          <p:cNvPr name="Group 8" id="8"/>
          <p:cNvGrpSpPr/>
          <p:nvPr/>
        </p:nvGrpSpPr>
        <p:grpSpPr>
          <a:xfrm rot="0">
            <a:off x="3812467" y="2099672"/>
            <a:ext cx="9423054" cy="4823422"/>
            <a:chOff x="0" y="0"/>
            <a:chExt cx="12564072" cy="6431229"/>
          </a:xfrm>
        </p:grpSpPr>
        <p:sp>
          <p:nvSpPr>
            <p:cNvPr name="Freeform 9" id="9"/>
            <p:cNvSpPr/>
            <p:nvPr/>
          </p:nvSpPr>
          <p:spPr>
            <a:xfrm flipH="false" flipV="false" rot="0">
              <a:off x="0" y="0"/>
              <a:ext cx="12564110" cy="6431280"/>
            </a:xfrm>
            <a:custGeom>
              <a:avLst/>
              <a:gdLst/>
              <a:ahLst/>
              <a:cxnLst/>
              <a:rect r="r" b="b" t="t" l="l"/>
              <a:pathLst>
                <a:path h="6431280" w="12564110">
                  <a:moveTo>
                    <a:pt x="0" y="0"/>
                  </a:moveTo>
                  <a:lnTo>
                    <a:pt x="12564110" y="0"/>
                  </a:lnTo>
                  <a:lnTo>
                    <a:pt x="12564110" y="6431280"/>
                  </a:lnTo>
                  <a:lnTo>
                    <a:pt x="0" y="6431280"/>
                  </a:lnTo>
                  <a:lnTo>
                    <a:pt x="0" y="0"/>
                  </a:lnTo>
                  <a:close/>
                </a:path>
              </a:pathLst>
            </a:custGeom>
            <a:blipFill>
              <a:blip r:embed="rId3"/>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AutoShape 6" id="6"/>
          <p:cNvSpPr/>
          <p:nvPr/>
        </p:nvSpPr>
        <p:spPr>
          <a:xfrm rot="8921220">
            <a:off x="14546494" y="9258805"/>
            <a:ext cx="4577763" cy="0"/>
          </a:xfrm>
          <a:prstGeom prst="line">
            <a:avLst/>
          </a:prstGeom>
          <a:ln cap="rnd" w="19050">
            <a:solidFill>
              <a:srgbClr val="3F3533"/>
            </a:solidFill>
            <a:prstDash val="solid"/>
            <a:headEnd type="none" len="sm" w="sm"/>
            <a:tailEnd type="none" len="sm" w="sm"/>
          </a:ln>
        </p:spPr>
      </p:sp>
      <p:sp>
        <p:nvSpPr>
          <p:cNvPr name="AutoShape 7" id="7"/>
          <p:cNvSpPr/>
          <p:nvPr/>
        </p:nvSpPr>
        <p:spPr>
          <a:xfrm rot="8921220">
            <a:off x="-836257" y="1009155"/>
            <a:ext cx="4577763" cy="0"/>
          </a:xfrm>
          <a:prstGeom prst="line">
            <a:avLst/>
          </a:prstGeom>
          <a:ln cap="rnd" w="19050">
            <a:solidFill>
              <a:srgbClr val="3F3533"/>
            </a:solidFill>
            <a:prstDash val="solid"/>
            <a:headEnd type="none" len="sm" w="sm"/>
            <a:tailEnd type="none" len="sm" w="sm"/>
          </a:ln>
        </p:spPr>
      </p:sp>
      <p:sp>
        <p:nvSpPr>
          <p:cNvPr name="TextBox 8" id="8"/>
          <p:cNvSpPr txBox="true"/>
          <p:nvPr/>
        </p:nvSpPr>
        <p:spPr>
          <a:xfrm rot="0">
            <a:off x="3813953" y="903459"/>
            <a:ext cx="10542822" cy="1350350"/>
          </a:xfrm>
          <a:prstGeom prst="rect">
            <a:avLst/>
          </a:prstGeom>
        </p:spPr>
        <p:txBody>
          <a:bodyPr anchor="t" rtlCol="false" tIns="0" lIns="0" bIns="0" rIns="0">
            <a:spAutoFit/>
          </a:bodyPr>
          <a:lstStyle/>
          <a:p>
            <a:pPr algn="ctr">
              <a:lnSpc>
                <a:spcPts val="6719"/>
              </a:lnSpc>
            </a:pPr>
            <a:r>
              <a:rPr lang="en-US" sz="5599">
                <a:solidFill>
                  <a:srgbClr val="000000"/>
                </a:solidFill>
                <a:latin typeface="Vidaloka"/>
                <a:ea typeface="Vidaloka"/>
                <a:cs typeface="Vidaloka"/>
                <a:sym typeface="Vidaloka"/>
              </a:rPr>
              <a:t>Manajemen Tarif Parkir (Admin)</a:t>
            </a:r>
          </a:p>
        </p:txBody>
      </p:sp>
      <p:sp>
        <p:nvSpPr>
          <p:cNvPr name="TextBox 9" id="9"/>
          <p:cNvSpPr txBox="true"/>
          <p:nvPr/>
        </p:nvSpPr>
        <p:spPr>
          <a:xfrm rot="0">
            <a:off x="3408109" y="7207568"/>
            <a:ext cx="11895458"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Admin mengatur tarif parkir berdasarkan jenis kendaraan atau durasi parkir. Tarif ini nantinya digunakan sistem untuk menghitung biaya secara otomatis saat transaksi berlangsung.disini juga terdapat fitur yang sama seperti sebelum nya yang kenggunaan nya sama</a:t>
            </a:r>
          </a:p>
        </p:txBody>
      </p:sp>
      <p:grpSp>
        <p:nvGrpSpPr>
          <p:cNvPr name="Group 10" id="10"/>
          <p:cNvGrpSpPr/>
          <p:nvPr/>
        </p:nvGrpSpPr>
        <p:grpSpPr>
          <a:xfrm rot="0">
            <a:off x="4148599" y="1846807"/>
            <a:ext cx="9873529" cy="5060185"/>
            <a:chOff x="0" y="0"/>
            <a:chExt cx="13164706" cy="6746913"/>
          </a:xfrm>
        </p:grpSpPr>
        <p:sp>
          <p:nvSpPr>
            <p:cNvPr name="Freeform 11" id="11"/>
            <p:cNvSpPr/>
            <p:nvPr/>
          </p:nvSpPr>
          <p:spPr>
            <a:xfrm flipH="false" flipV="false" rot="0">
              <a:off x="0" y="0"/>
              <a:ext cx="13164693" cy="6746875"/>
            </a:xfrm>
            <a:custGeom>
              <a:avLst/>
              <a:gdLst/>
              <a:ahLst/>
              <a:cxnLst/>
              <a:rect r="r" b="b" t="t" l="l"/>
              <a:pathLst>
                <a:path h="6746875" w="13164693">
                  <a:moveTo>
                    <a:pt x="0" y="0"/>
                  </a:moveTo>
                  <a:lnTo>
                    <a:pt x="13164693" y="0"/>
                  </a:lnTo>
                  <a:lnTo>
                    <a:pt x="13164693" y="6746875"/>
                  </a:lnTo>
                  <a:lnTo>
                    <a:pt x="0" y="6746875"/>
                  </a:lnTo>
                  <a:lnTo>
                    <a:pt x="0" y="0"/>
                  </a:lnTo>
                  <a:close/>
                </a:path>
              </a:pathLst>
            </a:custGeom>
            <a:blipFill>
              <a:blip r:embed="rId3"/>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AutoShape 6" id="6"/>
          <p:cNvSpPr/>
          <p:nvPr/>
        </p:nvSpPr>
        <p:spPr>
          <a:xfrm rot="8921220">
            <a:off x="14546494" y="9258805"/>
            <a:ext cx="4577763" cy="0"/>
          </a:xfrm>
          <a:prstGeom prst="line">
            <a:avLst/>
          </a:prstGeom>
          <a:ln cap="rnd" w="19050">
            <a:solidFill>
              <a:srgbClr val="3F3533"/>
            </a:solidFill>
            <a:prstDash val="solid"/>
            <a:headEnd type="none" len="sm" w="sm"/>
            <a:tailEnd type="none" len="sm" w="sm"/>
          </a:ln>
        </p:spPr>
      </p:sp>
      <p:sp>
        <p:nvSpPr>
          <p:cNvPr name="AutoShape 7" id="7"/>
          <p:cNvSpPr/>
          <p:nvPr/>
        </p:nvSpPr>
        <p:spPr>
          <a:xfrm rot="8921220">
            <a:off x="-836257" y="1009155"/>
            <a:ext cx="4577763" cy="0"/>
          </a:xfrm>
          <a:prstGeom prst="line">
            <a:avLst/>
          </a:prstGeom>
          <a:ln cap="rnd" w="19050">
            <a:solidFill>
              <a:srgbClr val="3F3533"/>
            </a:solidFill>
            <a:prstDash val="solid"/>
            <a:headEnd type="none" len="sm" w="sm"/>
            <a:tailEnd type="none" len="sm" w="sm"/>
          </a:ln>
        </p:spPr>
      </p:sp>
      <p:sp>
        <p:nvSpPr>
          <p:cNvPr name="Freeform 8" id="8"/>
          <p:cNvSpPr/>
          <p:nvPr/>
        </p:nvSpPr>
        <p:spPr>
          <a:xfrm flipH="false" flipV="false" rot="0">
            <a:off x="3408109" y="2390822"/>
            <a:ext cx="11301259" cy="4054327"/>
          </a:xfrm>
          <a:custGeom>
            <a:avLst/>
            <a:gdLst/>
            <a:ahLst/>
            <a:cxnLst/>
            <a:rect r="r" b="b" t="t" l="l"/>
            <a:pathLst>
              <a:path h="4054327" w="11301259">
                <a:moveTo>
                  <a:pt x="0" y="0"/>
                </a:moveTo>
                <a:lnTo>
                  <a:pt x="11301259" y="0"/>
                </a:lnTo>
                <a:lnTo>
                  <a:pt x="11301259" y="4054327"/>
                </a:lnTo>
                <a:lnTo>
                  <a:pt x="0" y="4054327"/>
                </a:lnTo>
                <a:lnTo>
                  <a:pt x="0" y="0"/>
                </a:lnTo>
                <a:close/>
              </a:path>
            </a:pathLst>
          </a:custGeom>
          <a:blipFill>
            <a:blip r:embed="rId3"/>
            <a:stretch>
              <a:fillRect l="0" t="0" r="0" b="0"/>
            </a:stretch>
          </a:blipFill>
        </p:spPr>
      </p:sp>
      <p:sp>
        <p:nvSpPr>
          <p:cNvPr name="TextBox 9" id="9"/>
          <p:cNvSpPr txBox="true"/>
          <p:nvPr/>
        </p:nvSpPr>
        <p:spPr>
          <a:xfrm rot="0">
            <a:off x="3813953" y="1171632"/>
            <a:ext cx="10542822" cy="847725"/>
          </a:xfrm>
          <a:prstGeom prst="rect">
            <a:avLst/>
          </a:prstGeom>
        </p:spPr>
        <p:txBody>
          <a:bodyPr anchor="t" rtlCol="false" tIns="0" lIns="0" bIns="0" rIns="0">
            <a:spAutoFit/>
          </a:bodyPr>
          <a:lstStyle/>
          <a:p>
            <a:pPr algn="ctr">
              <a:lnSpc>
                <a:spcPts val="6719"/>
              </a:lnSpc>
            </a:pPr>
            <a:r>
              <a:rPr lang="en-US" sz="5599">
                <a:solidFill>
                  <a:srgbClr val="000000"/>
                </a:solidFill>
                <a:latin typeface="Vidaloka"/>
                <a:ea typeface="Vidaloka"/>
                <a:cs typeface="Vidaloka"/>
                <a:sym typeface="Vidaloka"/>
              </a:rPr>
              <a:t>Area Parkir</a:t>
            </a:r>
            <a:r>
              <a:rPr lang="en-US" sz="5599">
                <a:solidFill>
                  <a:srgbClr val="000000"/>
                </a:solidFill>
                <a:latin typeface="Vidaloka"/>
                <a:ea typeface="Vidaloka"/>
                <a:cs typeface="Vidaloka"/>
                <a:sym typeface="Vidaloka"/>
              </a:rPr>
              <a:t> (Admin)</a:t>
            </a:r>
          </a:p>
        </p:txBody>
      </p:sp>
      <p:sp>
        <p:nvSpPr>
          <p:cNvPr name="TextBox 10" id="10"/>
          <p:cNvSpPr txBox="true"/>
          <p:nvPr/>
        </p:nvSpPr>
        <p:spPr>
          <a:xfrm rot="0">
            <a:off x="3344894" y="7417118"/>
            <a:ext cx="11895458" cy="12477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Di fitur ini terdapat area parkir yang mana untuk melihat nama, kapasitas dll, disini juga terdapat fitur sama seperti sebelumnya yang mana kenggunaan nya sama.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29223"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29223"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2517240">
            <a:off x="-739273" y="9186329"/>
            <a:ext cx="3784054" cy="0"/>
          </a:xfrm>
          <a:prstGeom prst="line">
            <a:avLst/>
          </a:prstGeom>
          <a:ln cap="rnd" w="19050">
            <a:solidFill>
              <a:srgbClr val="3F3533"/>
            </a:solidFill>
            <a:prstDash val="solid"/>
            <a:headEnd type="none" len="sm" w="sm"/>
            <a:tailEnd type="none" len="sm" w="sm"/>
          </a:ln>
        </p:spPr>
      </p:sp>
      <p:sp>
        <p:nvSpPr>
          <p:cNvPr name="AutoShape 5" id="5"/>
          <p:cNvSpPr/>
          <p:nvPr/>
        </p:nvSpPr>
        <p:spPr>
          <a:xfrm rot="2223600">
            <a:off x="15422537" y="877472"/>
            <a:ext cx="3627234"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4720342" y="810016"/>
            <a:ext cx="7803594" cy="1764221"/>
          </a:xfrm>
          <a:prstGeom prst="rect">
            <a:avLst/>
          </a:prstGeom>
        </p:spPr>
        <p:txBody>
          <a:bodyPr anchor="t" rtlCol="false" tIns="0" lIns="0" bIns="0" rIns="0">
            <a:spAutoFit/>
          </a:bodyPr>
          <a:lstStyle/>
          <a:p>
            <a:pPr algn="ctr">
              <a:lnSpc>
                <a:spcPts val="5759"/>
              </a:lnSpc>
            </a:pPr>
            <a:r>
              <a:rPr lang="en-US" sz="4800">
                <a:solidFill>
                  <a:srgbClr val="3F3533"/>
                </a:solidFill>
                <a:latin typeface="Vidaloka"/>
                <a:ea typeface="Vidaloka"/>
                <a:cs typeface="Vidaloka"/>
                <a:sym typeface="Vidaloka"/>
              </a:rPr>
              <a:t>Log Aktivitas (Admin)</a:t>
            </a:r>
          </a:p>
        </p:txBody>
      </p:sp>
      <p:sp>
        <p:nvSpPr>
          <p:cNvPr name="TextBox 7" id="7"/>
          <p:cNvSpPr txBox="true"/>
          <p:nvPr/>
        </p:nvSpPr>
        <p:spPr>
          <a:xfrm rot="0">
            <a:off x="3163672" y="7274624"/>
            <a:ext cx="11472986" cy="16668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Sistem mencatat setiap aktivitas yang dilakukan pengguna, seperti login, input data, edit, dan hapus data. Admin dapat mengakses log ini untuk memantau penggunaan sistem dan menghindari penyalahgunaan.</a:t>
            </a:r>
          </a:p>
        </p:txBody>
      </p:sp>
      <p:grpSp>
        <p:nvGrpSpPr>
          <p:cNvPr name="Group 8" id="8"/>
          <p:cNvGrpSpPr/>
          <p:nvPr/>
        </p:nvGrpSpPr>
        <p:grpSpPr>
          <a:xfrm rot="0">
            <a:off x="3486912" y="1845878"/>
            <a:ext cx="9695040" cy="5035363"/>
            <a:chOff x="0" y="0"/>
            <a:chExt cx="12926720" cy="6713817"/>
          </a:xfrm>
        </p:grpSpPr>
        <p:sp>
          <p:nvSpPr>
            <p:cNvPr name="Freeform 9" id="9"/>
            <p:cNvSpPr/>
            <p:nvPr/>
          </p:nvSpPr>
          <p:spPr>
            <a:xfrm flipH="false" flipV="false" rot="0">
              <a:off x="0" y="0"/>
              <a:ext cx="12926695" cy="6713855"/>
            </a:xfrm>
            <a:custGeom>
              <a:avLst/>
              <a:gdLst/>
              <a:ahLst/>
              <a:cxnLst/>
              <a:rect r="r" b="b" t="t" l="l"/>
              <a:pathLst>
                <a:path h="6713855" w="12926695">
                  <a:moveTo>
                    <a:pt x="0" y="0"/>
                  </a:moveTo>
                  <a:lnTo>
                    <a:pt x="12926695" y="0"/>
                  </a:lnTo>
                  <a:lnTo>
                    <a:pt x="12926695" y="6713855"/>
                  </a:lnTo>
                  <a:lnTo>
                    <a:pt x="0" y="6713855"/>
                  </a:lnTo>
                  <a:lnTo>
                    <a:pt x="0" y="0"/>
                  </a:lnTo>
                  <a:close/>
                </a:path>
              </a:pathLst>
            </a:custGeom>
            <a:blipFill>
              <a:blip r:embed="rId3"/>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29223"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29223"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2517240">
            <a:off x="-739273" y="9186329"/>
            <a:ext cx="3784054" cy="0"/>
          </a:xfrm>
          <a:prstGeom prst="line">
            <a:avLst/>
          </a:prstGeom>
          <a:ln cap="rnd" w="19050">
            <a:solidFill>
              <a:srgbClr val="3F3533"/>
            </a:solidFill>
            <a:prstDash val="solid"/>
            <a:headEnd type="none" len="sm" w="sm"/>
            <a:tailEnd type="none" len="sm" w="sm"/>
          </a:ln>
        </p:spPr>
      </p:sp>
      <p:sp>
        <p:nvSpPr>
          <p:cNvPr name="AutoShape 5" id="5"/>
          <p:cNvSpPr/>
          <p:nvPr/>
        </p:nvSpPr>
        <p:spPr>
          <a:xfrm rot="2223600">
            <a:off x="15422537" y="877472"/>
            <a:ext cx="3627234"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4492232" y="741602"/>
            <a:ext cx="7473725" cy="1773746"/>
          </a:xfrm>
          <a:prstGeom prst="rect">
            <a:avLst/>
          </a:prstGeom>
        </p:spPr>
        <p:txBody>
          <a:bodyPr anchor="t" rtlCol="false" tIns="0" lIns="0" bIns="0" rIns="0">
            <a:spAutoFit/>
          </a:bodyPr>
          <a:lstStyle/>
          <a:p>
            <a:pPr algn="r">
              <a:lnSpc>
                <a:spcPts val="6719"/>
              </a:lnSpc>
            </a:pPr>
            <a:r>
              <a:rPr lang="en-US" sz="5599">
                <a:solidFill>
                  <a:srgbClr val="3F3533"/>
                </a:solidFill>
                <a:latin typeface="Vidaloka"/>
                <a:ea typeface="Vidaloka"/>
                <a:cs typeface="Vidaloka"/>
                <a:sym typeface="Vidaloka"/>
              </a:rPr>
              <a:t>Dashboard Petugas</a:t>
            </a:r>
          </a:p>
        </p:txBody>
      </p:sp>
      <p:grpSp>
        <p:nvGrpSpPr>
          <p:cNvPr name="Group 7" id="7"/>
          <p:cNvGrpSpPr/>
          <p:nvPr/>
        </p:nvGrpSpPr>
        <p:grpSpPr>
          <a:xfrm rot="0">
            <a:off x="3005328" y="1789700"/>
            <a:ext cx="11326368" cy="5769369"/>
            <a:chOff x="0" y="0"/>
            <a:chExt cx="15101824" cy="7692492"/>
          </a:xfrm>
        </p:grpSpPr>
        <p:sp>
          <p:nvSpPr>
            <p:cNvPr name="Freeform 8" id="8"/>
            <p:cNvSpPr/>
            <p:nvPr/>
          </p:nvSpPr>
          <p:spPr>
            <a:xfrm flipH="false" flipV="false" rot="0">
              <a:off x="0" y="0"/>
              <a:ext cx="15101824" cy="7692517"/>
            </a:xfrm>
            <a:custGeom>
              <a:avLst/>
              <a:gdLst/>
              <a:ahLst/>
              <a:cxnLst/>
              <a:rect r="r" b="b" t="t" l="l"/>
              <a:pathLst>
                <a:path h="7692517" w="15101824">
                  <a:moveTo>
                    <a:pt x="0" y="0"/>
                  </a:moveTo>
                  <a:lnTo>
                    <a:pt x="15101824" y="0"/>
                  </a:lnTo>
                  <a:lnTo>
                    <a:pt x="15101824" y="7692517"/>
                  </a:lnTo>
                  <a:lnTo>
                    <a:pt x="0" y="7692517"/>
                  </a:lnTo>
                  <a:lnTo>
                    <a:pt x="0" y="0"/>
                  </a:lnTo>
                  <a:close/>
                </a:path>
              </a:pathLst>
            </a:custGeom>
            <a:blipFill>
              <a:blip r:embed="rId3"/>
              <a:stretch>
                <a:fillRect l="0" t="0" r="0" b="0"/>
              </a:stretch>
            </a:blipFill>
          </p:spPr>
        </p:sp>
      </p:grpSp>
      <p:sp>
        <p:nvSpPr>
          <p:cNvPr name="TextBox 9" id="9"/>
          <p:cNvSpPr txBox="true"/>
          <p:nvPr/>
        </p:nvSpPr>
        <p:spPr>
          <a:xfrm rot="0">
            <a:off x="3284591" y="7720994"/>
            <a:ext cx="11472986" cy="12477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lalu disini saat kita melakukan login sebagai petugas kita akan landing di dashboard petugas yang mana sama seperti dashboard admin namun hanya ada perbedaan di fitur.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TextBox 4" id="4"/>
          <p:cNvSpPr txBox="true"/>
          <p:nvPr/>
        </p:nvSpPr>
        <p:spPr>
          <a:xfrm rot="0">
            <a:off x="1712947" y="779078"/>
            <a:ext cx="15252154" cy="962549"/>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Transaksi Parkir (Petugas)</a:t>
            </a:r>
          </a:p>
        </p:txBody>
      </p:sp>
      <p:sp>
        <p:nvSpPr>
          <p:cNvPr name="TextBox 5" id="5"/>
          <p:cNvSpPr txBox="true"/>
          <p:nvPr/>
        </p:nvSpPr>
        <p:spPr>
          <a:xfrm rot="0">
            <a:off x="3284249" y="7204072"/>
            <a:ext cx="13036134" cy="20859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Lalu kita masuk ke dalam ditur transaksi disini di gunakan untuk memasukan  kendaraan dengan cara mengisi form plat nomor dan jenis kendaraan  lalu masuk ke form bawah yang mana ada aksi keluar yang jika kendaraan keluar maka petugas harus mengklik tombol keluar lalu ada juga tombol struk</a:t>
            </a:r>
          </a:p>
        </p:txBody>
      </p:sp>
      <p:grpSp>
        <p:nvGrpSpPr>
          <p:cNvPr name="Group 6" id="6"/>
          <p:cNvGrpSpPr/>
          <p:nvPr/>
        </p:nvGrpSpPr>
        <p:grpSpPr>
          <a:xfrm rot="0">
            <a:off x="3657600" y="1880292"/>
            <a:ext cx="10777728" cy="4957753"/>
            <a:chOff x="0" y="0"/>
            <a:chExt cx="14370304" cy="6610337"/>
          </a:xfrm>
        </p:grpSpPr>
        <p:sp>
          <p:nvSpPr>
            <p:cNvPr name="Freeform 7" id="7"/>
            <p:cNvSpPr/>
            <p:nvPr/>
          </p:nvSpPr>
          <p:spPr>
            <a:xfrm flipH="false" flipV="false" rot="0">
              <a:off x="0" y="0"/>
              <a:ext cx="14370304" cy="6610350"/>
            </a:xfrm>
            <a:custGeom>
              <a:avLst/>
              <a:gdLst/>
              <a:ahLst/>
              <a:cxnLst/>
              <a:rect r="r" b="b" t="t" l="l"/>
              <a:pathLst>
                <a:path h="6610350" w="14370304">
                  <a:moveTo>
                    <a:pt x="0" y="0"/>
                  </a:moveTo>
                  <a:lnTo>
                    <a:pt x="14370304" y="0"/>
                  </a:lnTo>
                  <a:lnTo>
                    <a:pt x="14370304" y="6610350"/>
                  </a:lnTo>
                  <a:lnTo>
                    <a:pt x="0" y="6610350"/>
                  </a:lnTo>
                  <a:lnTo>
                    <a:pt x="0" y="0"/>
                  </a:lnTo>
                  <a:close/>
                </a:path>
              </a:pathLst>
            </a:custGeom>
            <a:blipFill>
              <a:blip r:embed="rId3"/>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1878780">
            <a:off x="-862432" y="9304372"/>
            <a:ext cx="4577763" cy="0"/>
          </a:xfrm>
          <a:prstGeom prst="line">
            <a:avLst/>
          </a:prstGeom>
          <a:ln cap="rnd" w="19050">
            <a:solidFill>
              <a:srgbClr val="3F3533"/>
            </a:solidFill>
            <a:prstDash val="solid"/>
            <a:headEnd type="none" len="sm" w="sm"/>
            <a:tailEnd type="none" len="sm" w="sm"/>
          </a:ln>
        </p:spPr>
      </p:sp>
      <p:sp>
        <p:nvSpPr>
          <p:cNvPr name="AutoShape 5" id="5"/>
          <p:cNvSpPr/>
          <p:nvPr/>
        </p:nvSpPr>
        <p:spPr>
          <a:xfrm rot="1878780">
            <a:off x="14520320" y="1054722"/>
            <a:ext cx="4577763" cy="0"/>
          </a:xfrm>
          <a:prstGeom prst="line">
            <a:avLst/>
          </a:prstGeom>
          <a:ln cap="rnd" w="19050">
            <a:solidFill>
              <a:srgbClr val="3F3533"/>
            </a:solidFill>
            <a:prstDash val="solid"/>
            <a:headEnd type="none" len="sm" w="sm"/>
            <a:tailEnd type="none" len="sm" w="sm"/>
          </a:ln>
        </p:spPr>
      </p:sp>
      <p:sp>
        <p:nvSpPr>
          <p:cNvPr name="AutoShape 6" id="6"/>
          <p:cNvSpPr/>
          <p:nvPr/>
        </p:nvSpPr>
        <p:spPr>
          <a:xfrm rot="8921220">
            <a:off x="14546494" y="9258805"/>
            <a:ext cx="4577763" cy="0"/>
          </a:xfrm>
          <a:prstGeom prst="line">
            <a:avLst/>
          </a:prstGeom>
          <a:ln cap="rnd" w="19050">
            <a:solidFill>
              <a:srgbClr val="3F3533"/>
            </a:solidFill>
            <a:prstDash val="solid"/>
            <a:headEnd type="none" len="sm" w="sm"/>
            <a:tailEnd type="none" len="sm" w="sm"/>
          </a:ln>
        </p:spPr>
      </p:sp>
      <p:sp>
        <p:nvSpPr>
          <p:cNvPr name="AutoShape 7" id="7"/>
          <p:cNvSpPr/>
          <p:nvPr/>
        </p:nvSpPr>
        <p:spPr>
          <a:xfrm rot="8921220">
            <a:off x="-836257" y="1009155"/>
            <a:ext cx="4577763" cy="0"/>
          </a:xfrm>
          <a:prstGeom prst="line">
            <a:avLst/>
          </a:prstGeom>
          <a:ln cap="rnd" w="19050">
            <a:solidFill>
              <a:srgbClr val="3F3533"/>
            </a:solidFill>
            <a:prstDash val="solid"/>
            <a:headEnd type="none" len="sm" w="sm"/>
            <a:tailEnd type="none" len="sm" w="sm"/>
          </a:ln>
        </p:spPr>
      </p:sp>
      <p:sp>
        <p:nvSpPr>
          <p:cNvPr name="TextBox 8" id="8"/>
          <p:cNvSpPr txBox="true"/>
          <p:nvPr/>
        </p:nvSpPr>
        <p:spPr>
          <a:xfrm rot="0">
            <a:off x="883939" y="777173"/>
            <a:ext cx="15252154" cy="962549"/>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Cetak Struk (Petugas)</a:t>
            </a:r>
          </a:p>
        </p:txBody>
      </p:sp>
      <p:sp>
        <p:nvSpPr>
          <p:cNvPr name="TextBox 9" id="9"/>
          <p:cNvSpPr txBox="true"/>
          <p:nvPr/>
        </p:nvSpPr>
        <p:spPr>
          <a:xfrm rot="0">
            <a:off x="4294708" y="7474753"/>
            <a:ext cx="10210648" cy="1044826"/>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Setelah transaksi selesai, petugas dapat mencetak struk sebagai bukti pembayaran. Struk berisi informasi seperti nomor plat, waktu masuk, waktu keluar, durasi, dan total biaya.</a:t>
            </a:r>
          </a:p>
        </p:txBody>
      </p:sp>
      <p:grpSp>
        <p:nvGrpSpPr>
          <p:cNvPr name="Group 10" id="10"/>
          <p:cNvGrpSpPr/>
          <p:nvPr/>
        </p:nvGrpSpPr>
        <p:grpSpPr>
          <a:xfrm rot="0">
            <a:off x="3517392" y="2258025"/>
            <a:ext cx="11765280" cy="4962344"/>
            <a:chOff x="0" y="0"/>
            <a:chExt cx="15687040" cy="6616459"/>
          </a:xfrm>
        </p:grpSpPr>
        <p:sp>
          <p:nvSpPr>
            <p:cNvPr name="Freeform 11" id="11"/>
            <p:cNvSpPr/>
            <p:nvPr/>
          </p:nvSpPr>
          <p:spPr>
            <a:xfrm flipH="false" flipV="false" rot="0">
              <a:off x="0" y="0"/>
              <a:ext cx="15687039" cy="6616446"/>
            </a:xfrm>
            <a:custGeom>
              <a:avLst/>
              <a:gdLst/>
              <a:ahLst/>
              <a:cxnLst/>
              <a:rect r="r" b="b" t="t" l="l"/>
              <a:pathLst>
                <a:path h="6616446" w="15687039">
                  <a:moveTo>
                    <a:pt x="0" y="0"/>
                  </a:moveTo>
                  <a:lnTo>
                    <a:pt x="15687039" y="0"/>
                  </a:lnTo>
                  <a:lnTo>
                    <a:pt x="15687039" y="6616446"/>
                  </a:lnTo>
                  <a:lnTo>
                    <a:pt x="0" y="6616446"/>
                  </a:lnTo>
                  <a:lnTo>
                    <a:pt x="0" y="0"/>
                  </a:lnTo>
                  <a:close/>
                </a:path>
              </a:pathLst>
            </a:custGeom>
            <a:blipFill>
              <a:blip r:embed="rId3"/>
              <a:stretch>
                <a:fillRect l="0" t="-11273" r="0" b="-11273"/>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29223"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29223"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2517240">
            <a:off x="-739273" y="9186329"/>
            <a:ext cx="3784054" cy="0"/>
          </a:xfrm>
          <a:prstGeom prst="line">
            <a:avLst/>
          </a:prstGeom>
          <a:ln cap="rnd" w="19050">
            <a:solidFill>
              <a:srgbClr val="3F3533"/>
            </a:solidFill>
            <a:prstDash val="solid"/>
            <a:headEnd type="none" len="sm" w="sm"/>
            <a:tailEnd type="none" len="sm" w="sm"/>
          </a:ln>
        </p:spPr>
      </p:sp>
      <p:sp>
        <p:nvSpPr>
          <p:cNvPr name="AutoShape 5" id="5"/>
          <p:cNvSpPr/>
          <p:nvPr/>
        </p:nvSpPr>
        <p:spPr>
          <a:xfrm rot="2223600">
            <a:off x="15422537" y="877472"/>
            <a:ext cx="3627234"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3688061" y="958567"/>
            <a:ext cx="7473725" cy="1773746"/>
          </a:xfrm>
          <a:prstGeom prst="rect">
            <a:avLst/>
          </a:prstGeom>
        </p:spPr>
        <p:txBody>
          <a:bodyPr anchor="t" rtlCol="false" tIns="0" lIns="0" bIns="0" rIns="0">
            <a:spAutoFit/>
          </a:bodyPr>
          <a:lstStyle/>
          <a:p>
            <a:pPr algn="r">
              <a:lnSpc>
                <a:spcPts val="6719"/>
              </a:lnSpc>
            </a:pPr>
            <a:r>
              <a:rPr lang="en-US" sz="5599">
                <a:solidFill>
                  <a:srgbClr val="3F3533"/>
                </a:solidFill>
                <a:latin typeface="Vidaloka"/>
                <a:ea typeface="Vidaloka"/>
                <a:cs typeface="Vidaloka"/>
                <a:sym typeface="Vidaloka"/>
              </a:rPr>
              <a:t>Dashboard Owner</a:t>
            </a:r>
          </a:p>
        </p:txBody>
      </p:sp>
      <p:grpSp>
        <p:nvGrpSpPr>
          <p:cNvPr name="Group 7" id="7"/>
          <p:cNvGrpSpPr/>
          <p:nvPr/>
        </p:nvGrpSpPr>
        <p:grpSpPr>
          <a:xfrm rot="0">
            <a:off x="3206723" y="1979975"/>
            <a:ext cx="11006474" cy="5661455"/>
            <a:chOff x="0" y="0"/>
            <a:chExt cx="15930880" cy="8194446"/>
          </a:xfrm>
        </p:grpSpPr>
        <p:sp>
          <p:nvSpPr>
            <p:cNvPr name="Freeform 8" id="8"/>
            <p:cNvSpPr/>
            <p:nvPr/>
          </p:nvSpPr>
          <p:spPr>
            <a:xfrm flipH="false" flipV="false" rot="0">
              <a:off x="0" y="0"/>
              <a:ext cx="15930880" cy="8194421"/>
            </a:xfrm>
            <a:custGeom>
              <a:avLst/>
              <a:gdLst/>
              <a:ahLst/>
              <a:cxnLst/>
              <a:rect r="r" b="b" t="t" l="l"/>
              <a:pathLst>
                <a:path h="8194421" w="15930880">
                  <a:moveTo>
                    <a:pt x="0" y="0"/>
                  </a:moveTo>
                  <a:lnTo>
                    <a:pt x="15930880" y="0"/>
                  </a:lnTo>
                  <a:lnTo>
                    <a:pt x="15930880" y="8194421"/>
                  </a:lnTo>
                  <a:lnTo>
                    <a:pt x="0" y="8194421"/>
                  </a:lnTo>
                  <a:lnTo>
                    <a:pt x="0" y="0"/>
                  </a:lnTo>
                  <a:close/>
                </a:path>
              </a:pathLst>
            </a:custGeom>
            <a:blipFill>
              <a:blip r:embed="rId3"/>
              <a:stretch>
                <a:fillRect l="0" t="0" r="0" b="0"/>
              </a:stretch>
            </a:blipFill>
          </p:spPr>
        </p:sp>
      </p:grpSp>
      <p:sp>
        <p:nvSpPr>
          <p:cNvPr name="TextBox 9" id="9"/>
          <p:cNvSpPr txBox="true"/>
          <p:nvPr/>
        </p:nvSpPr>
        <p:spPr>
          <a:xfrm rot="0">
            <a:off x="3407507" y="7940495"/>
            <a:ext cx="11472986" cy="12477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lalu disini saat kita melakukan login sebagai owner kita akan landing di dashboard owner yang mana sama seperti dashboard yang lainnya namun hanya ada perbedaan di fitur.</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173717"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173717"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9107220">
            <a:off x="13495344" y="9207627"/>
            <a:ext cx="5851103" cy="0"/>
          </a:xfrm>
          <a:prstGeom prst="line">
            <a:avLst/>
          </a:prstGeom>
          <a:ln cap="rnd" w="19050">
            <a:solidFill>
              <a:srgbClr val="3F3533"/>
            </a:solidFill>
            <a:prstDash val="solid"/>
            <a:headEnd type="none" len="sm" w="sm"/>
            <a:tailEnd type="none" len="sm" w="sm"/>
          </a:ln>
        </p:spPr>
      </p:sp>
      <p:sp>
        <p:nvSpPr>
          <p:cNvPr name="TextBox 5" id="5"/>
          <p:cNvSpPr txBox="true"/>
          <p:nvPr/>
        </p:nvSpPr>
        <p:spPr>
          <a:xfrm rot="0">
            <a:off x="2713349" y="1077116"/>
            <a:ext cx="12471149" cy="962549"/>
          </a:xfrm>
          <a:prstGeom prst="rect">
            <a:avLst/>
          </a:prstGeom>
        </p:spPr>
        <p:txBody>
          <a:bodyPr anchor="t" rtlCol="false" tIns="0" lIns="0" bIns="0" rIns="0">
            <a:spAutoFit/>
          </a:bodyPr>
          <a:lstStyle/>
          <a:p>
            <a:pPr algn="ctr">
              <a:lnSpc>
                <a:spcPts val="7200"/>
              </a:lnSpc>
            </a:pPr>
            <a:r>
              <a:rPr lang="en-US" sz="6000">
                <a:solidFill>
                  <a:srgbClr val="000000"/>
                </a:solidFill>
                <a:latin typeface="Vidaloka"/>
                <a:ea typeface="Vidaloka"/>
                <a:cs typeface="Vidaloka"/>
                <a:sym typeface="Vidaloka"/>
              </a:rPr>
              <a:t>Rekap Transaksi (Owner)</a:t>
            </a:r>
          </a:p>
        </p:txBody>
      </p:sp>
      <p:sp>
        <p:nvSpPr>
          <p:cNvPr name="TextBox 6" id="6"/>
          <p:cNvSpPr txBox="true"/>
          <p:nvPr/>
        </p:nvSpPr>
        <p:spPr>
          <a:xfrm rot="0">
            <a:off x="3647265" y="7450607"/>
            <a:ext cx="10383869" cy="1666875"/>
          </a:xfrm>
          <a:prstGeom prst="rect">
            <a:avLst/>
          </a:prstGeom>
        </p:spPr>
        <p:txBody>
          <a:bodyPr anchor="t" rtlCol="false" tIns="0" lIns="0" bIns="0" rIns="0">
            <a:spAutoFit/>
          </a:bodyPr>
          <a:lstStyle/>
          <a:p>
            <a:pPr algn="l">
              <a:lnSpc>
                <a:spcPts val="3359"/>
              </a:lnSpc>
            </a:pPr>
            <a:r>
              <a:rPr lang="en-US" sz="2799">
                <a:solidFill>
                  <a:srgbClr val="000000"/>
                </a:solidFill>
                <a:latin typeface="Montserrat"/>
                <a:ea typeface="Montserrat"/>
                <a:cs typeface="Montserrat"/>
                <a:sym typeface="Montserrat"/>
              </a:rPr>
              <a:t>Owner dapat melihat rekap data transaksi parkir dalam periode tertentu. Data yang ditampilkan meliputi jumlah kendaraan dan total pendapatan. Fitur ini digunakan untuk memantau kinerja operasional.</a:t>
            </a:r>
          </a:p>
        </p:txBody>
      </p:sp>
      <p:grpSp>
        <p:nvGrpSpPr>
          <p:cNvPr name="Group 7" id="7"/>
          <p:cNvGrpSpPr/>
          <p:nvPr/>
        </p:nvGrpSpPr>
        <p:grpSpPr>
          <a:xfrm rot="0">
            <a:off x="4259018" y="2301802"/>
            <a:ext cx="8308829" cy="4877152"/>
            <a:chOff x="0" y="0"/>
            <a:chExt cx="11078439" cy="6502870"/>
          </a:xfrm>
        </p:grpSpPr>
        <p:sp>
          <p:nvSpPr>
            <p:cNvPr name="Freeform 8" id="8"/>
            <p:cNvSpPr/>
            <p:nvPr/>
          </p:nvSpPr>
          <p:spPr>
            <a:xfrm flipH="false" flipV="false" rot="0">
              <a:off x="0" y="0"/>
              <a:ext cx="11078464" cy="6502908"/>
            </a:xfrm>
            <a:custGeom>
              <a:avLst/>
              <a:gdLst/>
              <a:ahLst/>
              <a:cxnLst/>
              <a:rect r="r" b="b" t="t" l="l"/>
              <a:pathLst>
                <a:path h="6502908" w="11078464">
                  <a:moveTo>
                    <a:pt x="0" y="0"/>
                  </a:moveTo>
                  <a:lnTo>
                    <a:pt x="11078464" y="0"/>
                  </a:lnTo>
                  <a:lnTo>
                    <a:pt x="11078464" y="6502908"/>
                  </a:lnTo>
                  <a:lnTo>
                    <a:pt x="0" y="6502908"/>
                  </a:lnTo>
                  <a:lnTo>
                    <a:pt x="0" y="0"/>
                  </a:lnTo>
                  <a:close/>
                </a:path>
              </a:pathLst>
            </a:custGeom>
            <a:blipFill>
              <a:blip r:embed="rId3"/>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p:cSld>
    <p:bg>
      <p:bgPr>
        <a:gradFill rotWithShape="true">
          <a:gsLst>
            <a:gs pos="0">
              <a:srgbClr val="CDFFD8">
                <a:alpha val="100000"/>
              </a:srgbClr>
            </a:gs>
            <a:gs pos="100000">
              <a:srgbClr val="94B9FF">
                <a:alpha val="100000"/>
              </a:srgbClr>
            </a:gs>
          </a:gsLst>
          <a:lin ang="0"/>
        </a:gradFill>
      </p:bgPr>
    </p:bg>
    <p:spTree>
      <p:nvGrpSpPr>
        <p:cNvPr id="1" name=""/>
        <p:cNvGrpSpPr/>
        <p:nvPr/>
      </p:nvGrpSpPr>
      <p:grpSpPr>
        <a:xfrm>
          <a:off x="0" y="0"/>
          <a:ext cx="0" cy="0"/>
          <a:chOff x="0" y="0"/>
          <a:chExt cx="0" cy="0"/>
        </a:xfrm>
      </p:grpSpPr>
      <p:sp>
        <p:nvSpPr>
          <p:cNvPr name="AutoShape 2" id="2"/>
          <p:cNvSpPr/>
          <p:nvPr/>
        </p:nvSpPr>
        <p:spPr>
          <a:xfrm rot="10560">
            <a:off x="-29223" y="538677"/>
            <a:ext cx="18632033" cy="0"/>
          </a:xfrm>
          <a:prstGeom prst="line">
            <a:avLst/>
          </a:prstGeom>
          <a:ln cap="rnd" w="19050">
            <a:solidFill>
              <a:srgbClr val="3F3533"/>
            </a:solidFill>
            <a:prstDash val="solid"/>
            <a:headEnd type="none" len="sm" w="sm"/>
            <a:tailEnd type="none" len="sm" w="sm"/>
          </a:ln>
        </p:spPr>
      </p:sp>
      <p:sp>
        <p:nvSpPr>
          <p:cNvPr name="AutoShape 3" id="3"/>
          <p:cNvSpPr/>
          <p:nvPr/>
        </p:nvSpPr>
        <p:spPr>
          <a:xfrm rot="10560">
            <a:off x="-29223" y="9745370"/>
            <a:ext cx="18632033" cy="0"/>
          </a:xfrm>
          <a:prstGeom prst="line">
            <a:avLst/>
          </a:prstGeom>
          <a:ln cap="rnd" w="19050">
            <a:solidFill>
              <a:srgbClr val="3F3533"/>
            </a:solidFill>
            <a:prstDash val="solid"/>
            <a:headEnd type="none" len="sm" w="sm"/>
            <a:tailEnd type="none" len="sm" w="sm"/>
          </a:ln>
        </p:spPr>
      </p:sp>
      <p:sp>
        <p:nvSpPr>
          <p:cNvPr name="AutoShape 4" id="4"/>
          <p:cNvSpPr/>
          <p:nvPr/>
        </p:nvSpPr>
        <p:spPr>
          <a:xfrm rot="2517240">
            <a:off x="-739273" y="9186329"/>
            <a:ext cx="3784054" cy="0"/>
          </a:xfrm>
          <a:prstGeom prst="line">
            <a:avLst/>
          </a:prstGeom>
          <a:ln cap="rnd" w="19050">
            <a:solidFill>
              <a:srgbClr val="3F3533"/>
            </a:solidFill>
            <a:prstDash val="solid"/>
            <a:headEnd type="none" len="sm" w="sm"/>
            <a:tailEnd type="none" len="sm" w="sm"/>
          </a:ln>
        </p:spPr>
      </p:sp>
      <p:sp>
        <p:nvSpPr>
          <p:cNvPr name="AutoShape 5" id="5"/>
          <p:cNvSpPr/>
          <p:nvPr/>
        </p:nvSpPr>
        <p:spPr>
          <a:xfrm rot="2223600">
            <a:off x="15422537" y="877472"/>
            <a:ext cx="3627234" cy="0"/>
          </a:xfrm>
          <a:prstGeom prst="line">
            <a:avLst/>
          </a:prstGeom>
          <a:ln cap="rnd" w="19050">
            <a:solidFill>
              <a:srgbClr val="3F3533"/>
            </a:solidFill>
            <a:prstDash val="solid"/>
            <a:headEnd type="none" len="sm" w="sm"/>
            <a:tailEnd type="none" len="sm" w="sm"/>
          </a:ln>
        </p:spPr>
      </p:sp>
      <p:sp>
        <p:nvSpPr>
          <p:cNvPr name="TextBox 6" id="6"/>
          <p:cNvSpPr txBox="true"/>
          <p:nvPr/>
        </p:nvSpPr>
        <p:spPr>
          <a:xfrm rot="0">
            <a:off x="3761213" y="2308302"/>
            <a:ext cx="10765574" cy="5000625"/>
          </a:xfrm>
          <a:prstGeom prst="rect">
            <a:avLst/>
          </a:prstGeom>
        </p:spPr>
        <p:txBody>
          <a:bodyPr anchor="t" rtlCol="false" tIns="0" lIns="0" bIns="0" rIns="0">
            <a:spAutoFit/>
          </a:bodyPr>
          <a:lstStyle/>
          <a:p>
            <a:pPr algn="ctr">
              <a:lnSpc>
                <a:spcPts val="9600"/>
              </a:lnSpc>
            </a:pPr>
            <a:r>
              <a:rPr lang="en-US" sz="8000">
                <a:solidFill>
                  <a:srgbClr val="3F3533"/>
                </a:solidFill>
                <a:latin typeface="Vidaloka"/>
                <a:ea typeface="Vidaloka"/>
                <a:cs typeface="Vidaloka"/>
                <a:sym typeface="Vidaloka"/>
              </a:rPr>
              <a:t>Sekian Terima Kasih </a:t>
            </a:r>
          </a:p>
          <a:p>
            <a:pPr algn="ctr">
              <a:lnSpc>
                <a:spcPts val="5759"/>
              </a:lnSpc>
            </a:pPr>
          </a:p>
          <a:p>
            <a:pPr algn="ctr">
              <a:lnSpc>
                <a:spcPts val="8039"/>
              </a:lnSpc>
            </a:pPr>
            <a:r>
              <a:rPr lang="en-US" sz="6699">
                <a:solidFill>
                  <a:srgbClr val="3F3533"/>
                </a:solidFill>
                <a:latin typeface="Vidaloka"/>
                <a:ea typeface="Vidaloka"/>
                <a:cs typeface="Vidaloka"/>
                <a:sym typeface="Vidaloka"/>
              </a:rPr>
              <a:t>Dari kami </a:t>
            </a:r>
          </a:p>
          <a:p>
            <a:pPr algn="ctr">
              <a:lnSpc>
                <a:spcPts val="8039"/>
              </a:lnSpc>
            </a:pPr>
            <a:r>
              <a:rPr lang="en-US" sz="6699">
                <a:solidFill>
                  <a:srgbClr val="3F3533"/>
                </a:solidFill>
                <a:latin typeface="Vidaloka"/>
                <a:ea typeface="Vidaloka"/>
                <a:cs typeface="Vidaloka"/>
                <a:sym typeface="Vidaloka"/>
              </a:rPr>
              <a:t>Maaf jika ada salah kata yang menyinggung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DAHHvrsqF3A</dc:identifier>
  <dcterms:modified xsi:type="dcterms:W3CDTF">2011-08-01T06:04:30Z</dcterms:modified>
  <cp:revision>1</cp:revision>
  <dc:title>PPT PROJECT PARKIR.pptx</dc:title>
</cp:coreProperties>
</file>